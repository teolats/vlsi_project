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98" r:id="rId5"/>
    <p:sldId id="260" r:id="rId6"/>
    <p:sldId id="297" r:id="rId7"/>
    <p:sldId id="261" r:id="rId8"/>
    <p:sldId id="291" r:id="rId9"/>
    <p:sldId id="292" r:id="rId10"/>
    <p:sldId id="293" r:id="rId11"/>
    <p:sldId id="294" r:id="rId12"/>
    <p:sldId id="295" r:id="rId13"/>
    <p:sldId id="296" r:id="rId14"/>
    <p:sldId id="262" r:id="rId15"/>
    <p:sldId id="263" r:id="rId16"/>
    <p:sldId id="270" r:id="rId17"/>
    <p:sldId id="274" r:id="rId18"/>
    <p:sldId id="271" r:id="rId19"/>
    <p:sldId id="275" r:id="rId20"/>
    <p:sldId id="272" r:id="rId21"/>
    <p:sldId id="276" r:id="rId22"/>
    <p:sldId id="265" r:id="rId23"/>
    <p:sldId id="273" r:id="rId24"/>
    <p:sldId id="277" r:id="rId25"/>
    <p:sldId id="266" r:id="rId26"/>
    <p:sldId id="288" r:id="rId27"/>
    <p:sldId id="283" r:id="rId28"/>
    <p:sldId id="284" r:id="rId29"/>
    <p:sldId id="285" r:id="rId30"/>
    <p:sldId id="286" r:id="rId31"/>
    <p:sldId id="287" r:id="rId32"/>
    <p:sldId id="267" r:id="rId33"/>
    <p:sldId id="282" r:id="rId34"/>
    <p:sldId id="289" r:id="rId35"/>
    <p:sldId id="290" r:id="rId36"/>
    <p:sldId id="281" r:id="rId37"/>
    <p:sldId id="268" r:id="rId38"/>
    <p:sldId id="269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20"/>
    <a:srgbClr val="C5A059"/>
    <a:srgbClr val="FAF9F6"/>
    <a:srgbClr val="FDF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175" autoAdjust="0"/>
  </p:normalViewPr>
  <p:slideViewPr>
    <p:cSldViewPr snapToGrid="0">
      <p:cViewPr>
        <p:scale>
          <a:sx n="66" d="100"/>
          <a:sy n="66" d="100"/>
        </p:scale>
        <p:origin x="-168" y="9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Διαφάνεια τίτλο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l-GR"/>
              <a:t>Κάντε κλικ για να επεξεργαστείτε τον υπότιτλο του υποδείγματος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797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Τίτλος και περιεχό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94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Κεφαλίδα ενότητα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557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Δύο περιεχόμεν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547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Σύγκρισ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6059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Μόνο τίτλο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79337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Κεν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859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Περιεχόμενο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608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Εικόνα με λεζάντ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l-GR"/>
              <a:t>Κάντε κλικ στο εικονίδιο για να προσθέσετε εικόνα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l-GR"/>
              <a:t>Στυλ κειμένου υποδείγματος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23245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Τίτλος και Κατακόρυφο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605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Κατακόρυφος τίτλος και Κείμεν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881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l-GR"/>
              <a:t>Κάντε κλικ για να επεξεργαστείτε τον τίτλο υποδείγματος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l-GR"/>
              <a:t>Στυλ κειμένου υποδείγματος</a:t>
            </a:r>
          </a:p>
          <a:p>
            <a:pPr lvl="1"/>
            <a:r>
              <a:rPr lang="el-GR"/>
              <a:t>Δεύτερο επίπεδο</a:t>
            </a:r>
          </a:p>
          <a:p>
            <a:pPr lvl="2"/>
            <a:r>
              <a:rPr lang="el-GR"/>
              <a:t>Τρίτο επίπεδο</a:t>
            </a:r>
          </a:p>
          <a:p>
            <a:pPr lvl="3"/>
            <a:r>
              <a:rPr lang="el-GR"/>
              <a:t>Τέταρτο επίπεδο</a:t>
            </a:r>
          </a:p>
          <a:p>
            <a:pPr lvl="4"/>
            <a:r>
              <a:rPr lang="el-GR"/>
              <a:t>Πέμπτο επίπεδο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47616C-A140-463F-9B87-7A5AAF23AA1A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9F55CC-53DC-4395-9B65-1DA5E3DCB3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94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D9E10FB-37FA-7C38-60B8-E33864591A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09A5BC25-7677-AB09-4577-4B61A79213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08F146FC-914C-D41B-1E3B-2F2E2B9D3F3D}"/>
              </a:ext>
            </a:extLst>
          </p:cNvPr>
          <p:cNvSpPr/>
          <p:nvPr/>
        </p:nvSpPr>
        <p:spPr>
          <a:xfrm>
            <a:off x="1662581" y="513384"/>
            <a:ext cx="886685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ln w="0"/>
                <a:solidFill>
                  <a:srgbClr val="80002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Conditional-sum adder 8-bits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C99CC2-8043-0466-0E7B-008409799110}"/>
              </a:ext>
            </a:extLst>
          </p:cNvPr>
          <p:cNvSpPr txBox="1"/>
          <p:nvPr/>
        </p:nvSpPr>
        <p:spPr>
          <a:xfrm>
            <a:off x="2583023" y="2090172"/>
            <a:ext cx="7025951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sz="2800" b="1" dirty="0">
                <a:cs typeface="Times New Roman" panose="02020603050405020304" pitchFamily="18" charset="0"/>
              </a:rPr>
              <a:t>ΟΜΑΔΑ 8</a:t>
            </a:r>
          </a:p>
          <a:p>
            <a:pPr algn="ctr"/>
            <a:endParaRPr lang="el-GR" sz="2800" b="1" u="sng" dirty="0">
              <a:cs typeface="Times New Roman" panose="02020603050405020304" pitchFamily="18" charset="0"/>
            </a:endParaRPr>
          </a:p>
          <a:p>
            <a:pPr algn="ctr"/>
            <a:r>
              <a:rPr lang="el-GR" sz="2800" b="1" dirty="0">
                <a:cs typeface="Times New Roman" panose="02020603050405020304" pitchFamily="18" charset="0"/>
              </a:rPr>
              <a:t>ΚΑΤΣΑΝΤΩΝΗΣ ΚΩΝΣΤΑΝΤΙΟΣ</a:t>
            </a:r>
            <a:r>
              <a:rPr lang="en-US" sz="2800" b="1" dirty="0">
                <a:cs typeface="Times New Roman" panose="02020603050405020304" pitchFamily="18" charset="0"/>
              </a:rPr>
              <a:t> - 1104678</a:t>
            </a:r>
            <a:endParaRPr lang="el-GR" sz="2800" b="1" dirty="0">
              <a:cs typeface="Times New Roman" panose="02020603050405020304" pitchFamily="18" charset="0"/>
            </a:endParaRPr>
          </a:p>
          <a:p>
            <a:pPr algn="ctr"/>
            <a:endParaRPr lang="el-GR" sz="2800" b="1" dirty="0">
              <a:cs typeface="Times New Roman" panose="02020603050405020304" pitchFamily="18" charset="0"/>
            </a:endParaRPr>
          </a:p>
          <a:p>
            <a:pPr algn="ctr"/>
            <a:r>
              <a:rPr lang="el-GR" sz="2800" b="1" dirty="0">
                <a:cs typeface="Times New Roman" panose="02020603050405020304" pitchFamily="18" charset="0"/>
              </a:rPr>
              <a:t>ΛΑΤΣΗΣ ΘΕΟΔΩΡΟΣ</a:t>
            </a:r>
            <a:r>
              <a:rPr lang="en-US" sz="2800" b="1" dirty="0">
                <a:cs typeface="Times New Roman" panose="02020603050405020304" pitchFamily="18" charset="0"/>
              </a:rPr>
              <a:t> - 1104676</a:t>
            </a:r>
          </a:p>
          <a:p>
            <a:pPr algn="ctr"/>
            <a:endParaRPr lang="el-GR" sz="2800" b="1" dirty="0">
              <a:solidFill>
                <a:schemeClr val="bg1"/>
              </a:solidFill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5EF3BB-18BC-72B9-89BE-2CEA13D8A13B}"/>
              </a:ext>
            </a:extLst>
          </p:cNvPr>
          <p:cNvSpPr txBox="1"/>
          <p:nvPr/>
        </p:nvSpPr>
        <p:spPr>
          <a:xfrm>
            <a:off x="3054220" y="5421286"/>
            <a:ext cx="6083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b="1" dirty="0"/>
              <a:t>ΣΧΕΔΙΑΣΜΟΣ ΟΛΟΚΛΗΡΩΜΕΝΩΝ ΚΥΚΛΩΜΑΤΩΝ (</a:t>
            </a:r>
            <a:r>
              <a:rPr lang="en-US" b="1" dirty="0"/>
              <a:t>VLSI) </a:t>
            </a:r>
            <a:r>
              <a:rPr lang="el-GR" b="1" dirty="0"/>
              <a:t>ΙΙ</a:t>
            </a:r>
            <a:endParaRPr lang="en-US" b="1" dirty="0"/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E237CD2D-7BE4-97E1-9D5E-AB021CFA61E6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AE49126-0CC3-662A-3554-067957E65DAC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5472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7020D0-B9C0-57FB-EEC9-32CD784A8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48071DCC-E912-0E0C-C8CA-F51E43E71F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03E1989D-85B1-D5CD-A6CD-0718F63835F4}"/>
              </a:ext>
            </a:extLst>
          </p:cNvPr>
          <p:cNvSpPr/>
          <p:nvPr/>
        </p:nvSpPr>
        <p:spPr>
          <a:xfrm>
            <a:off x="513934" y="329000"/>
            <a:ext cx="235833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l-GR" sz="5400" b="1" dirty="0">
                <a:ln w="0"/>
                <a:solidFill>
                  <a:srgbClr val="80002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+mj-lt"/>
                <a:cs typeface="Times New Roman" panose="02020603050405020304" pitchFamily="18" charset="0"/>
              </a:rPr>
              <a:t>Σκοπός</a:t>
            </a: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BB46E7D6-16F8-3F85-31B1-7FEF03B3C7BE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3A4549A-2CBD-71D7-C83A-EFA363AFB11A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76946424-72A3-3FE1-D144-230BB9D85A25}"/>
              </a:ext>
            </a:extLst>
          </p:cNvPr>
          <p:cNvCxnSpPr>
            <a:cxnSpLocks/>
          </p:cNvCxnSpPr>
          <p:nvPr/>
        </p:nvCxnSpPr>
        <p:spPr>
          <a:xfrm flipV="1">
            <a:off x="513934" y="1175657"/>
            <a:ext cx="10425736" cy="76673"/>
          </a:xfrm>
          <a:prstGeom prst="line">
            <a:avLst/>
          </a:prstGeom>
          <a:ln/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B2AE854A-D8DA-684D-1548-A67093015373}"/>
              </a:ext>
            </a:extLst>
          </p:cNvPr>
          <p:cNvSpPr/>
          <p:nvPr/>
        </p:nvSpPr>
        <p:spPr>
          <a:xfrm>
            <a:off x="1129006" y="1652534"/>
            <a:ext cx="4338734" cy="355293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/>
          </a:p>
          <a:p>
            <a:r>
              <a:rPr lang="en-US" b="1" dirty="0" err="1">
                <a:solidFill>
                  <a:srgbClr val="800020"/>
                </a:solidFill>
              </a:rPr>
              <a:t>Σχεδι</a:t>
            </a:r>
            <a:r>
              <a:rPr lang="en-US" b="1" dirty="0">
                <a:solidFill>
                  <a:srgbClr val="800020"/>
                </a:solidFill>
              </a:rPr>
              <a:t>ασμός VHDL</a:t>
            </a:r>
          </a:p>
          <a:p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Πλήρης</a:t>
            </a:r>
            <a:r>
              <a:rPr lang="en-US" sz="1400" dirty="0"/>
              <a:t> </a:t>
            </a:r>
            <a:r>
              <a:rPr lang="en-US" sz="1400" dirty="0" err="1"/>
              <a:t>υλο</a:t>
            </a:r>
            <a:r>
              <a:rPr lang="en-US" sz="1400" dirty="0"/>
              <a:t>ποίηση ενός αθροιστή </a:t>
            </a:r>
            <a:r>
              <a:rPr lang="en-US" sz="1400" b="1" dirty="0"/>
              <a:t>8-bit Conditional-Sum Adder</a:t>
            </a:r>
            <a:r>
              <a:rPr lang="en-US" sz="1400" dirty="0"/>
              <a:t> με δομική (Structural) περιγραφή VHDL.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Ενσωμάτωση</a:t>
            </a:r>
            <a:r>
              <a:rPr lang="en-US" sz="1400" dirty="0"/>
              <a:t> κατα</a:t>
            </a:r>
            <a:r>
              <a:rPr lang="en-US" sz="1400" dirty="0" err="1"/>
              <a:t>χωρητών</a:t>
            </a:r>
            <a:r>
              <a:rPr lang="en-US" sz="1400" dirty="0"/>
              <a:t> </a:t>
            </a:r>
            <a:r>
              <a:rPr lang="en-US" sz="1400" dirty="0" err="1"/>
              <a:t>εισόδου</a:t>
            </a:r>
            <a:r>
              <a:rPr lang="en-US" sz="1400" dirty="0"/>
              <a:t>/</a:t>
            </a:r>
            <a:r>
              <a:rPr lang="en-US" sz="1400" dirty="0" err="1"/>
              <a:t>εξόδου</a:t>
            </a:r>
            <a:r>
              <a:rPr lang="en-US" sz="1400" dirty="0"/>
              <a:t>  </a:t>
            </a:r>
            <a:r>
              <a:rPr lang="en-US" sz="1400" dirty="0" err="1"/>
              <a:t>γι</a:t>
            </a:r>
            <a:r>
              <a:rPr lang="en-US" sz="1400" dirty="0"/>
              <a:t>α τον χρονικό συγχρονισμό του data path.</a:t>
            </a:r>
            <a:endParaRPr lang="el-G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Επιβεβα</a:t>
            </a:r>
            <a:r>
              <a:rPr lang="en-US" sz="1400" dirty="0" err="1"/>
              <a:t>ίωση</a:t>
            </a:r>
            <a:r>
              <a:rPr lang="en-US" sz="1400" dirty="0"/>
              <a:t> </a:t>
            </a:r>
            <a:r>
              <a:rPr lang="en-US" sz="1400" dirty="0" err="1"/>
              <a:t>της</a:t>
            </a:r>
            <a:r>
              <a:rPr lang="en-US" sz="1400" dirty="0"/>
              <a:t> </a:t>
            </a:r>
            <a:r>
              <a:rPr lang="en-US" sz="1400" dirty="0" err="1"/>
              <a:t>σωστής</a:t>
            </a:r>
            <a:r>
              <a:rPr lang="en-US" sz="1400" dirty="0"/>
              <a:t> </a:t>
            </a:r>
            <a:r>
              <a:rPr lang="en-US" sz="1400" dirty="0" err="1"/>
              <a:t>λειτουργί</a:t>
            </a:r>
            <a:r>
              <a:rPr lang="en-US" sz="1400" dirty="0"/>
              <a:t>ας  </a:t>
            </a:r>
            <a:r>
              <a:rPr lang="el-GR" sz="1400" dirty="0"/>
              <a:t>προσομοίωσης με</a:t>
            </a:r>
            <a:r>
              <a:rPr lang="en-US" sz="1400" dirty="0"/>
              <a:t> </a:t>
            </a:r>
            <a:r>
              <a:rPr lang="en-US" sz="1400" b="1" dirty="0"/>
              <a:t>ModelSim</a:t>
            </a:r>
            <a:r>
              <a:rPr lang="el-GR" sz="1400" b="1" dirty="0"/>
              <a:t> </a:t>
            </a:r>
            <a:r>
              <a:rPr lang="en-US" sz="1400" dirty="0"/>
              <a:t>(Testbench).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algn="ctr"/>
            <a:endParaRPr lang="en-US" dirty="0"/>
          </a:p>
        </p:txBody>
      </p:sp>
      <p:sp>
        <p:nvSpPr>
          <p:cNvPr id="13" name="Ορθογώνιο: Στρογγύλεμα γωνιών 12">
            <a:extLst>
              <a:ext uri="{FF2B5EF4-FFF2-40B4-BE49-F238E27FC236}">
                <a16:creationId xmlns:a16="http://schemas.microsoft.com/office/drawing/2014/main" id="{B2A27270-5010-BB6E-ED2F-E4F174DE6B9A}"/>
              </a:ext>
            </a:extLst>
          </p:cNvPr>
          <p:cNvSpPr/>
          <p:nvPr/>
        </p:nvSpPr>
        <p:spPr>
          <a:xfrm>
            <a:off x="6724262" y="1657243"/>
            <a:ext cx="4338734" cy="355293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b="1" dirty="0">
              <a:solidFill>
                <a:srgbClr val="800020"/>
              </a:solidFill>
            </a:endParaRPr>
          </a:p>
          <a:p>
            <a:r>
              <a:rPr lang="en-US" b="1" dirty="0">
                <a:solidFill>
                  <a:srgbClr val="800020"/>
                </a:solidFill>
              </a:rPr>
              <a:t>Επα</a:t>
            </a:r>
            <a:r>
              <a:rPr lang="en-US" b="1" dirty="0" err="1">
                <a:solidFill>
                  <a:srgbClr val="800020"/>
                </a:solidFill>
              </a:rPr>
              <a:t>λήθευση</a:t>
            </a:r>
            <a:r>
              <a:rPr lang="en-US" b="1" dirty="0">
                <a:solidFill>
                  <a:srgbClr val="800020"/>
                </a:solidFill>
              </a:rPr>
              <a:t> &amp; ASIC Flow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Σύνθεση</a:t>
            </a:r>
            <a:r>
              <a:rPr lang="el-GR" sz="1400" dirty="0"/>
              <a:t> με </a:t>
            </a:r>
            <a:r>
              <a:rPr lang="en-US" sz="1400" dirty="0"/>
              <a:t>Genus </a:t>
            </a:r>
            <a:r>
              <a:rPr lang="el-GR" sz="1400" dirty="0"/>
              <a:t>45</a:t>
            </a:r>
            <a:r>
              <a:rPr lang="en-US" sz="1400" dirty="0"/>
              <a:t>nm </a:t>
            </a:r>
            <a:r>
              <a:rPr lang="el-GR" sz="1400" dirty="0"/>
              <a:t>και </a:t>
            </a:r>
            <a:r>
              <a:rPr lang="en-US" sz="1400" dirty="0"/>
              <a:t>7nm </a:t>
            </a:r>
            <a:r>
              <a:rPr lang="el-GR" sz="1400" dirty="0"/>
              <a:t>με </a:t>
            </a:r>
            <a:r>
              <a:rPr lang="en-US" sz="1400" dirty="0"/>
              <a:t>Genus</a:t>
            </a:r>
          </a:p>
          <a:p>
            <a:r>
              <a:rPr lang="en-US" sz="1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 err="1"/>
              <a:t>Φυσική</a:t>
            </a:r>
            <a:r>
              <a:rPr lang="en-US" sz="1400" dirty="0"/>
              <a:t> </a:t>
            </a:r>
            <a:r>
              <a:rPr lang="en-US" sz="1400" dirty="0" err="1"/>
              <a:t>Υλο</a:t>
            </a:r>
            <a:r>
              <a:rPr lang="en-US" sz="1400" dirty="0"/>
              <a:t>ποίηση (Innovus) </a:t>
            </a:r>
            <a:r>
              <a:rPr lang="el-GR" sz="1400" dirty="0"/>
              <a:t>και με </a:t>
            </a:r>
            <a:r>
              <a:rPr lang="en-US" sz="1400" dirty="0"/>
              <a:t>clock tree synthesis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l-GR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Formal Verification </a:t>
            </a:r>
            <a:r>
              <a:rPr lang="el-GR" sz="1400" dirty="0"/>
              <a:t>με</a:t>
            </a:r>
            <a:r>
              <a:rPr lang="en-US" sz="1400" dirty="0"/>
              <a:t> LEC</a:t>
            </a:r>
            <a:r>
              <a:rPr lang="el-GR" sz="1400" dirty="0"/>
              <a:t> και </a:t>
            </a:r>
            <a:r>
              <a:rPr lang="en-US" sz="1400" dirty="0"/>
              <a:t>gate level simulation </a:t>
            </a:r>
            <a:r>
              <a:rPr lang="el-GR" sz="1400" dirty="0"/>
              <a:t>με </a:t>
            </a:r>
            <a:r>
              <a:rPr lang="en-US" sz="1400" dirty="0" err="1"/>
              <a:t>Xcelium</a:t>
            </a:r>
            <a:r>
              <a:rPr lang="en-US" sz="1400" dirty="0"/>
              <a:t>, για τη μεταφορά του σχεδίου στο πυρίτιο.</a:t>
            </a:r>
            <a:endParaRPr lang="el-GR" sz="1400" dirty="0"/>
          </a:p>
          <a:p>
            <a:endParaRPr lang="en-US" sz="1400" dirty="0"/>
          </a:p>
          <a:p>
            <a:pPr algn="ctr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5180906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6F756C-11AB-9B21-14D4-6E39F728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313D57A3-A27C-685A-2827-82AB2670B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38237649-FBC2-9FE7-133B-B46F11AF2B42}"/>
              </a:ext>
            </a:extLst>
          </p:cNvPr>
          <p:cNvSpPr/>
          <p:nvPr/>
        </p:nvSpPr>
        <p:spPr>
          <a:xfrm>
            <a:off x="645049" y="323152"/>
            <a:ext cx="71096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solidFill>
                  <a:srgbClr val="800020"/>
                </a:solidFill>
              </a:rPr>
              <a:t>Θεωρητικό</a:t>
            </a:r>
            <a:r>
              <a:rPr lang="en-US" sz="5400" dirty="0">
                <a:solidFill>
                  <a:srgbClr val="800020"/>
                </a:solidFill>
              </a:rPr>
              <a:t> </a:t>
            </a:r>
            <a:r>
              <a:rPr lang="en-US" sz="5400" b="1" dirty="0">
                <a:solidFill>
                  <a:srgbClr val="800020"/>
                </a:solidFill>
              </a:rPr>
              <a:t>Υπόβα</a:t>
            </a:r>
            <a:r>
              <a:rPr lang="en-US" sz="5400" b="1" dirty="0" err="1">
                <a:solidFill>
                  <a:srgbClr val="800020"/>
                </a:solidFill>
              </a:rPr>
              <a:t>θρο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07C986DE-33B4-584E-B292-B462AF54E860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AE461B5-9AB8-22F6-FA47-7E71C256224F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CF036B56-D2E4-9EE0-B6FD-E08ED20E5BDC}"/>
              </a:ext>
            </a:extLst>
          </p:cNvPr>
          <p:cNvCxnSpPr/>
          <p:nvPr/>
        </p:nvCxnSpPr>
        <p:spPr>
          <a:xfrm>
            <a:off x="645049" y="1252330"/>
            <a:ext cx="1021345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D67BF-3D73-CE6C-3050-091A2446C8FB}"/>
                  </a:ext>
                </a:extLst>
              </p:cNvPr>
              <p:cNvSpPr txBox="1"/>
              <p:nvPr/>
            </p:nvSpPr>
            <p:spPr>
              <a:xfrm>
                <a:off x="321469" y="2705106"/>
                <a:ext cx="5430305" cy="25442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marR="0" indent="-285750" algn="l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Οι απ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λοί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 α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θροιστές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 (Ripple-Carry) πα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ρουσιάζουν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 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γρ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αμμική καθυστέρηση λόγω της σειριακής διάδοσης του κρατουμένου από bit σε bit.</a:t>
                </a:r>
              </a:p>
              <a:p>
                <a:pPr marL="285750" marR="0" indent="-285750" algn="l">
                  <a:spcAft>
                    <a:spcPts val="900"/>
                  </a:spcAft>
                  <a:buFont typeface="Arial" panose="020B0604020202020204" pitchFamily="34" charset="0"/>
                  <a:buChar char="•"/>
                </a:pP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Η α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ρχιτεκτονική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 </a:t>
                </a:r>
                <a:r>
                  <a:rPr lang="en-US" sz="1400" b="1" i="0" dirty="0">
                    <a:solidFill>
                      <a:srgbClr val="1E293B"/>
                    </a:solidFill>
                    <a:effectLst/>
                  </a:rPr>
                  <a:t>Conditional-Sum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 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λύνει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 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το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 π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ρό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βλημα με παράλληλο προ-υπολογισμό των πιθανών αθροισμάτων για τις δύο εκδοχές εισόδου κρατουμένου:</a:t>
                </a:r>
              </a:p>
              <a:p>
                <a:pPr marR="0" algn="l">
                  <a:spcBef>
                    <a:spcPts val="1125"/>
                  </a:spcBef>
                  <a:spcAft>
                    <a:spcPts val="1125"/>
                  </a:spcAft>
                </a:pPr>
                <a:r>
                  <a:rPr lang="en-US" sz="1400" i="1" dirty="0"/>
                  <a:t>			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400" i="0">
                        <a:latin typeface="Cambria Math" panose="02040503050406030204" pitchFamily="18" charset="0"/>
                      </a:rPr>
                      <m:t>=0 </m:t>
                    </m:r>
                    <m:r>
                      <m:rPr>
                        <m:nor/>
                      </m:rPr>
                      <a:rPr lang="en-US" sz="1400" b="0" i="0"/>
                      <m:t>and</m:t>
                    </m:r>
                    <m:r>
                      <a:rPr lang="en-US" sz="1400" b="0" i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400" b="0" i="1">
                            <a:latin typeface="Cambria Math" panose="02040503050406030204" pitchFamily="18" charset="0"/>
                          </a:rPr>
                          <m:t>𝑖𝑛</m:t>
                        </m:r>
                      </m:sub>
                    </m:sSub>
                    <m:r>
                      <a:rPr lang="en-US" sz="1400" b="0" i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sz="1400" b="0" i="0" dirty="0">
                  <a:solidFill>
                    <a:srgbClr val="000000"/>
                  </a:solidFill>
                  <a:effectLst/>
                </a:endParaRPr>
              </a:p>
              <a:p>
                <a:pPr marR="0" algn="l">
                  <a:spcAft>
                    <a:spcPts val="900"/>
                  </a:spcAft>
                </a:pP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Η π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ροσέγγιση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 α</a:t>
                </a:r>
                <a:r>
                  <a:rPr lang="en-US" sz="1400" b="0" i="0" dirty="0" err="1">
                    <a:solidFill>
                      <a:srgbClr val="1E293B"/>
                    </a:solidFill>
                    <a:effectLst/>
                  </a:rPr>
                  <a:t>υτή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 </a:t>
                </a:r>
                <a:r>
                  <a:rPr lang="el-GR" sz="1400" b="0" i="0" dirty="0">
                    <a:solidFill>
                      <a:srgbClr val="1E293B"/>
                    </a:solidFill>
                    <a:effectLst/>
                  </a:rPr>
                  <a:t>παρουσιάζεται στο βιβλίο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 (Weste &amp; Harris, 11.2.2</a:t>
                </a:r>
                <a:r>
                  <a:rPr lang="el-GR" sz="1400" b="0" i="0" dirty="0">
                    <a:solidFill>
                      <a:srgbClr val="1E293B"/>
                    </a:solidFill>
                    <a:effectLst/>
                  </a:rPr>
                  <a:t>.7 </a:t>
                </a:r>
                <a:r>
                  <a:rPr lang="el-GR" sz="1400" b="0" i="0" dirty="0" err="1">
                    <a:solidFill>
                      <a:srgbClr val="1E293B"/>
                    </a:solidFill>
                    <a:effectLst/>
                  </a:rPr>
                  <a:t>σελ</a:t>
                </a:r>
                <a:r>
                  <a:rPr lang="el-GR" sz="1400" b="0" i="0" dirty="0">
                    <a:solidFill>
                      <a:srgbClr val="1E293B"/>
                    </a:solidFill>
                    <a:effectLst/>
                  </a:rPr>
                  <a:t> 447</a:t>
                </a:r>
                <a:r>
                  <a:rPr lang="en-US" sz="1400" b="0" i="0" dirty="0">
                    <a:solidFill>
                      <a:srgbClr val="1E293B"/>
                    </a:solidFill>
                    <a:effectLst/>
                  </a:rPr>
                  <a:t>).</a:t>
                </a: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42D67BF-3D73-CE6C-3050-091A2446C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1469" y="2705106"/>
                <a:ext cx="5430305" cy="2544286"/>
              </a:xfrm>
              <a:prstGeom prst="rect">
                <a:avLst/>
              </a:prstGeom>
              <a:blipFill>
                <a:blip r:embed="rId3"/>
                <a:stretch>
                  <a:fillRect l="-337" t="-480" b="-1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041B2EA3-8C95-9E0F-9C50-03ACE9DC331E}"/>
              </a:ext>
            </a:extLst>
          </p:cNvPr>
          <p:cNvSpPr txBox="1"/>
          <p:nvPr/>
        </p:nvSpPr>
        <p:spPr>
          <a:xfrm>
            <a:off x="321469" y="2162241"/>
            <a:ext cx="6396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en-US" sz="1800" b="1" i="0" dirty="0" err="1">
                <a:solidFill>
                  <a:srgbClr val="800020"/>
                </a:solidFill>
                <a:effectLst/>
              </a:rPr>
              <a:t>Το</a:t>
            </a:r>
            <a:r>
              <a:rPr lang="en-US" sz="1800" b="1" i="0" dirty="0">
                <a:solidFill>
                  <a:srgbClr val="800020"/>
                </a:solidFill>
                <a:effectLst/>
              </a:rPr>
              <a:t> </a:t>
            </a:r>
            <a:r>
              <a:rPr lang="en-US" sz="1800" b="1" i="0" dirty="0" err="1">
                <a:solidFill>
                  <a:srgbClr val="800020"/>
                </a:solidFill>
                <a:effectLst/>
              </a:rPr>
              <a:t>Πρό</a:t>
            </a:r>
            <a:r>
              <a:rPr lang="en-US" sz="1800" b="1" i="0" dirty="0">
                <a:solidFill>
                  <a:srgbClr val="800020"/>
                </a:solidFill>
                <a:effectLst/>
              </a:rPr>
              <a:t>βλημα &amp; Η Λύση</a:t>
            </a:r>
          </a:p>
        </p:txBody>
      </p:sp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13E6C0BC-5346-A8C5-3403-157E543C32E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2411" y="1762126"/>
            <a:ext cx="6098120" cy="3622426"/>
          </a:xfrm>
          <a:prstGeom prst="rect">
            <a:avLst/>
          </a:prstGeom>
          <a:solidFill>
            <a:srgbClr val="FAF9F6"/>
          </a:solidFill>
          <a:effectLst>
            <a:outerShdw blurRad="50800" dist="50800" dir="5400000" sx="103000" sy="103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155379768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C8DAB3-A17C-B2BF-A2AB-B9CFBE242F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A6A62D4D-1A2F-E719-B5DB-01C4D7902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0600F273-0FAE-19CC-97CB-E787AAABDE01}"/>
              </a:ext>
            </a:extLst>
          </p:cNvPr>
          <p:cNvSpPr/>
          <p:nvPr/>
        </p:nvSpPr>
        <p:spPr>
          <a:xfrm>
            <a:off x="645049" y="323152"/>
            <a:ext cx="71096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 err="1">
                <a:solidFill>
                  <a:srgbClr val="800020"/>
                </a:solidFill>
              </a:rPr>
              <a:t>Θεωρητικό</a:t>
            </a:r>
            <a:r>
              <a:rPr lang="en-US" sz="5400" dirty="0">
                <a:solidFill>
                  <a:srgbClr val="800020"/>
                </a:solidFill>
              </a:rPr>
              <a:t> </a:t>
            </a:r>
            <a:r>
              <a:rPr lang="en-US" sz="5400" b="1" dirty="0">
                <a:solidFill>
                  <a:srgbClr val="800020"/>
                </a:solidFill>
              </a:rPr>
              <a:t>Υπόβα</a:t>
            </a:r>
            <a:r>
              <a:rPr lang="en-US" sz="5400" b="1" dirty="0" err="1">
                <a:solidFill>
                  <a:srgbClr val="800020"/>
                </a:solidFill>
              </a:rPr>
              <a:t>θρο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E0B0B5C0-8380-6EE0-2B6B-03E3131E12DF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F41EA9-D47B-4BB1-F8A4-4C2303B0B90E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7817E060-8A47-F6E5-A2E8-7643D28D9F63}"/>
              </a:ext>
            </a:extLst>
          </p:cNvPr>
          <p:cNvCxnSpPr/>
          <p:nvPr/>
        </p:nvCxnSpPr>
        <p:spPr>
          <a:xfrm>
            <a:off x="645049" y="1252330"/>
            <a:ext cx="1021345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4" name="Εικόνα 13">
            <a:extLst>
              <a:ext uri="{FF2B5EF4-FFF2-40B4-BE49-F238E27FC236}">
                <a16:creationId xmlns:a16="http://schemas.microsoft.com/office/drawing/2014/main" id="{8E965D9C-0BD9-B0F5-1ABB-FCD3E67E28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0" y="1804704"/>
            <a:ext cx="6551772" cy="3891906"/>
          </a:xfrm>
          <a:prstGeom prst="rect">
            <a:avLst/>
          </a:prstGeom>
          <a:solidFill>
            <a:srgbClr val="FAF9F6"/>
          </a:solidFill>
          <a:effectLst>
            <a:outerShdw blurRad="50800" dist="50800" dir="5400000" sx="103000" sy="103000" algn="ctr" rotWithShape="0">
              <a:schemeClr val="bg1"/>
            </a:outerShdw>
          </a:effectLst>
        </p:spPr>
      </p:pic>
    </p:spTree>
    <p:extLst>
      <p:ext uri="{BB962C8B-B14F-4D97-AF65-F5344CB8AC3E}">
        <p14:creationId xmlns:p14="http://schemas.microsoft.com/office/powerpoint/2010/main" val="29162954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543B97-0378-0FA3-3957-B0996C0F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9311F306-C64C-91E9-2A95-E08BF4356F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EB461114-4A09-37E2-5AFB-CFC140256820}"/>
              </a:ext>
            </a:extLst>
          </p:cNvPr>
          <p:cNvSpPr/>
          <p:nvPr/>
        </p:nvSpPr>
        <p:spPr>
          <a:xfrm>
            <a:off x="645049" y="329000"/>
            <a:ext cx="46410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800020"/>
                </a:solidFill>
              </a:rPr>
              <a:t>Αρχιτεκτονική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FD3E27BC-3228-6179-B5C7-A39E36BDB95C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96CE74-633B-7974-11C7-2DD4EFFD1EF5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AB69ED5E-F313-3D15-A8DE-2BD6DA1B4CDE}"/>
              </a:ext>
            </a:extLst>
          </p:cNvPr>
          <p:cNvCxnSpPr>
            <a:cxnSpLocks/>
          </p:cNvCxnSpPr>
          <p:nvPr/>
        </p:nvCxnSpPr>
        <p:spPr>
          <a:xfrm>
            <a:off x="645049" y="1252330"/>
            <a:ext cx="10127726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74A64CA1-4A34-12D0-B1DB-EFE6C6AE7507}"/>
              </a:ext>
            </a:extLst>
          </p:cNvPr>
          <p:cNvSpPr txBox="1"/>
          <p:nvPr/>
        </p:nvSpPr>
        <p:spPr>
          <a:xfrm>
            <a:off x="645049" y="2217130"/>
            <a:ext cx="4297887" cy="2423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en-US" b="1" i="0" dirty="0" err="1">
                <a:solidFill>
                  <a:srgbClr val="800020"/>
                </a:solidFill>
                <a:effectLst/>
              </a:rPr>
              <a:t>Ιερ</a:t>
            </a:r>
            <a:r>
              <a:rPr lang="en-US" b="1" i="0" dirty="0">
                <a:solidFill>
                  <a:srgbClr val="800020"/>
                </a:solidFill>
                <a:effectLst/>
              </a:rPr>
              <a:t>αρχικός Σχηματισμός</a:t>
            </a:r>
            <a:endParaRPr lang="en-US" b="1" dirty="0">
              <a:solidFill>
                <a:srgbClr val="800020"/>
              </a:solidFill>
            </a:endParaRPr>
          </a:p>
          <a:p>
            <a:pPr algn="l"/>
            <a:endParaRPr lang="en-US" sz="1400" b="0" i="0" dirty="0">
              <a:solidFill>
                <a:srgbClr val="1E293B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E293B"/>
                </a:solidFill>
                <a:effectLst/>
              </a:rPr>
              <a:t>Τα blocks 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οργ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ανώνονται ιεραρχικά: τα επιμέρους αποτελέσματα 1-bit συνδυάζονται σε blocks των 2-bit, έπειτα 4-bit, και τελικά σχηματίζουν το block των 8-bit.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1E293B"/>
              </a:solidFill>
              <a:effectLst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b="0" i="0" dirty="0">
                <a:solidFill>
                  <a:srgbClr val="1E293B"/>
                </a:solidFill>
                <a:effectLst/>
              </a:rPr>
              <a:t>Απ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οφεύγετ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αι η ripple διάδοση πολυπλέκτες επιλέγουν άμεσα το σωστό κλάδο μόλις παραχθεί το κρατούμενο από το προηγούμενο επίπεδο.</a:t>
            </a:r>
          </a:p>
        </p:txBody>
      </p:sp>
      <p:pic>
        <p:nvPicPr>
          <p:cNvPr id="15" name="Picture 2">
            <a:extLst>
              <a:ext uri="{FF2B5EF4-FFF2-40B4-BE49-F238E27FC236}">
                <a16:creationId xmlns:a16="http://schemas.microsoft.com/office/drawing/2014/main" id="{0F87586C-128D-EF35-916E-3169C7CB15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42936" y="1941948"/>
            <a:ext cx="6705737" cy="3480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151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425340-2780-53D3-C648-26CE8A0FA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BF162881-1AFF-30AC-F495-E70DAAA636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7689AEA6-3A3A-68E2-1123-D771827720D8}"/>
              </a:ext>
            </a:extLst>
          </p:cNvPr>
          <p:cNvSpPr/>
          <p:nvPr/>
        </p:nvSpPr>
        <p:spPr>
          <a:xfrm>
            <a:off x="645049" y="329000"/>
            <a:ext cx="46410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en-US" sz="5400" b="1" dirty="0" err="1">
                <a:solidFill>
                  <a:srgbClr val="800020"/>
                </a:solidFill>
              </a:rPr>
              <a:t>Αρχιτεκτονική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D85E1F6-DDE7-A922-3BBC-FFC1FC09F14A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0E6113B-B470-71F1-7FDA-E59D5B80C75C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8" name="Ευθεία γραμμή σύνδεσης 7">
            <a:extLst>
              <a:ext uri="{FF2B5EF4-FFF2-40B4-BE49-F238E27FC236}">
                <a16:creationId xmlns:a16="http://schemas.microsoft.com/office/drawing/2014/main" id="{2AC65AE6-A984-5C5E-9708-804A2225F5FF}"/>
              </a:ext>
            </a:extLst>
          </p:cNvPr>
          <p:cNvCxnSpPr>
            <a:cxnSpLocks/>
          </p:cNvCxnSpPr>
          <p:nvPr/>
        </p:nvCxnSpPr>
        <p:spPr>
          <a:xfrm>
            <a:off x="645049" y="1252330"/>
            <a:ext cx="10127726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15" name="Picture 2">
            <a:extLst>
              <a:ext uri="{FF2B5EF4-FFF2-40B4-BE49-F238E27FC236}">
                <a16:creationId xmlns:a16="http://schemas.microsoft.com/office/drawing/2014/main" id="{7A15FCE2-51A7-1B6A-249D-CA1B06E82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9102" y="1774027"/>
            <a:ext cx="8093795" cy="4201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963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484C247-3D3B-AAC5-1CD6-168CA25AF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E87EE685-FF94-A09B-02E5-3E5C8823EE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698F31AD-DECC-F0B1-B954-EDD6CBE427A4}"/>
              </a:ext>
            </a:extLst>
          </p:cNvPr>
          <p:cNvSpPr/>
          <p:nvPr/>
        </p:nvSpPr>
        <p:spPr>
          <a:xfrm>
            <a:off x="645049" y="329000"/>
            <a:ext cx="6676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Η </a:t>
            </a:r>
            <a:r>
              <a:rPr lang="en-US" sz="5400" b="1" dirty="0" err="1">
                <a:solidFill>
                  <a:srgbClr val="800020"/>
                </a:solidFill>
              </a:rPr>
              <a:t>Ιερ</a:t>
            </a:r>
            <a:r>
              <a:rPr lang="en-US" sz="5400" b="1" dirty="0">
                <a:solidFill>
                  <a:srgbClr val="800020"/>
                </a:solidFill>
              </a:rPr>
              <a:t>αρχία της VHDL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B951A37A-29A7-51DD-42B2-8779E20EEFF9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0D251A6-839A-41B8-1446-2A88656E588E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0A1E2B1B-CE45-DBD9-EF0B-C6059C9E8AE6}"/>
              </a:ext>
            </a:extLst>
          </p:cNvPr>
          <p:cNvSpPr/>
          <p:nvPr/>
        </p:nvSpPr>
        <p:spPr>
          <a:xfrm>
            <a:off x="9551534" y="3095769"/>
            <a:ext cx="2194831" cy="66646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3200" b="1" dirty="0" err="1">
                <a:solidFill>
                  <a:srgbClr val="800020"/>
                </a:solidFill>
              </a:rPr>
              <a:t>Top_Adder</a:t>
            </a:r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D1CC6020-495A-09DC-D8B3-191AFF7FB428}"/>
              </a:ext>
            </a:extLst>
          </p:cNvPr>
          <p:cNvCxnSpPr>
            <a:cxnSpLocks/>
          </p:cNvCxnSpPr>
          <p:nvPr/>
        </p:nvCxnSpPr>
        <p:spPr>
          <a:xfrm flipV="1">
            <a:off x="809625" y="1181100"/>
            <a:ext cx="9839325" cy="7123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Ορθογώνιο: Στρογγύλεμα γωνιών 9">
            <a:extLst>
              <a:ext uri="{FF2B5EF4-FFF2-40B4-BE49-F238E27FC236}">
                <a16:creationId xmlns:a16="http://schemas.microsoft.com/office/drawing/2014/main" id="{2A611D4F-3334-208D-8E63-77726DB477FF}"/>
              </a:ext>
            </a:extLst>
          </p:cNvPr>
          <p:cNvSpPr/>
          <p:nvPr/>
        </p:nvSpPr>
        <p:spPr>
          <a:xfrm>
            <a:off x="809625" y="2176557"/>
            <a:ext cx="2734764" cy="618894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3200" b="1" dirty="0">
                <a:solidFill>
                  <a:srgbClr val="800020"/>
                </a:solidFill>
              </a:rPr>
              <a:t>FULL_ADDER</a:t>
            </a:r>
          </a:p>
          <a:p>
            <a:endParaRPr lang="en-US" sz="24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FCCD2F69-9F76-1A41-DDCD-E58B61CB4002}"/>
              </a:ext>
            </a:extLst>
          </p:cNvPr>
          <p:cNvSpPr/>
          <p:nvPr/>
        </p:nvSpPr>
        <p:spPr>
          <a:xfrm>
            <a:off x="809625" y="4062550"/>
            <a:ext cx="2194832" cy="618894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800020"/>
              </a:solidFill>
            </a:endParaRPr>
          </a:p>
          <a:p>
            <a:pPr algn="ctr"/>
            <a:r>
              <a:rPr lang="en-US" sz="3200" b="1" dirty="0">
                <a:solidFill>
                  <a:srgbClr val="800020"/>
                </a:solidFill>
              </a:rPr>
              <a:t>MUX_2</a:t>
            </a:r>
            <a:endParaRPr lang="en-US" sz="2400" b="1" dirty="0">
              <a:solidFill>
                <a:srgbClr val="800020"/>
              </a:solidFill>
            </a:endParaRPr>
          </a:p>
          <a:p>
            <a:pPr algn="ctr"/>
            <a:endParaRPr lang="en-US" sz="2400" b="1" dirty="0">
              <a:solidFill>
                <a:srgbClr val="800020"/>
              </a:solidFill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4C7D38D4-BEF9-5660-E588-8E5FD29CF5D4}"/>
              </a:ext>
            </a:extLst>
          </p:cNvPr>
          <p:cNvSpPr/>
          <p:nvPr/>
        </p:nvSpPr>
        <p:spPr>
          <a:xfrm>
            <a:off x="3291837" y="3056710"/>
            <a:ext cx="2804161" cy="74458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3200" b="1" dirty="0">
                <a:solidFill>
                  <a:srgbClr val="800020"/>
                </a:solidFill>
              </a:rPr>
              <a:t>CS</a:t>
            </a:r>
            <a:r>
              <a:rPr lang="el-GR" sz="3200" b="1" dirty="0">
                <a:solidFill>
                  <a:srgbClr val="800020"/>
                </a:solidFill>
              </a:rPr>
              <a:t>_</a:t>
            </a:r>
            <a:r>
              <a:rPr lang="en-US" sz="3200" b="1" dirty="0">
                <a:solidFill>
                  <a:srgbClr val="800020"/>
                </a:solidFill>
              </a:rPr>
              <a:t>Combine</a:t>
            </a:r>
            <a:endParaRPr lang="en-US" sz="4000" b="1" dirty="0">
              <a:solidFill>
                <a:srgbClr val="800020"/>
              </a:solidFill>
            </a:endParaRPr>
          </a:p>
          <a:p>
            <a:endParaRPr lang="en-US" sz="24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</p:txBody>
      </p:sp>
      <p:sp>
        <p:nvSpPr>
          <p:cNvPr id="16" name="Ορθογώνιο: Στρογγύλεμα γωνιών 15">
            <a:extLst>
              <a:ext uri="{FF2B5EF4-FFF2-40B4-BE49-F238E27FC236}">
                <a16:creationId xmlns:a16="http://schemas.microsoft.com/office/drawing/2014/main" id="{FF7E3925-28EB-0EE5-E4C6-0D3795196A0E}"/>
              </a:ext>
            </a:extLst>
          </p:cNvPr>
          <p:cNvSpPr/>
          <p:nvPr/>
        </p:nvSpPr>
        <p:spPr>
          <a:xfrm>
            <a:off x="6509946" y="3056710"/>
            <a:ext cx="2447109" cy="74458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3200" b="1" dirty="0">
                <a:solidFill>
                  <a:srgbClr val="800020"/>
                </a:solidFill>
              </a:rPr>
              <a:t>CSA_8bit</a:t>
            </a:r>
            <a:endParaRPr lang="en-US" sz="3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8" name="Ορθογώνιο: Στρογγύλεμα γωνιών 17">
            <a:extLst>
              <a:ext uri="{FF2B5EF4-FFF2-40B4-BE49-F238E27FC236}">
                <a16:creationId xmlns:a16="http://schemas.microsoft.com/office/drawing/2014/main" id="{A2D52523-C839-C703-A1D1-E13659029415}"/>
              </a:ext>
            </a:extLst>
          </p:cNvPr>
          <p:cNvSpPr/>
          <p:nvPr/>
        </p:nvSpPr>
        <p:spPr>
          <a:xfrm>
            <a:off x="6095998" y="4602763"/>
            <a:ext cx="2447109" cy="74458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3200" b="1" dirty="0">
                <a:solidFill>
                  <a:srgbClr val="800020"/>
                </a:solidFill>
              </a:rPr>
              <a:t>QD</a:t>
            </a:r>
            <a:endParaRPr lang="en-US" sz="3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22" name="Ευθεία γραμμή σύνδεσης 21">
            <a:extLst>
              <a:ext uri="{FF2B5EF4-FFF2-40B4-BE49-F238E27FC236}">
                <a16:creationId xmlns:a16="http://schemas.microsoft.com/office/drawing/2014/main" id="{08A1FDD8-AD45-9561-DF29-6364F52F0A82}"/>
              </a:ext>
            </a:extLst>
          </p:cNvPr>
          <p:cNvCxnSpPr>
            <a:stCxn id="10" idx="2"/>
          </p:cNvCxnSpPr>
          <p:nvPr/>
        </p:nvCxnSpPr>
        <p:spPr>
          <a:xfrm flipH="1">
            <a:off x="2159726" y="2795451"/>
            <a:ext cx="17281" cy="126709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Ευθύγραμμο βέλος σύνδεσης 23">
            <a:extLst>
              <a:ext uri="{FF2B5EF4-FFF2-40B4-BE49-F238E27FC236}">
                <a16:creationId xmlns:a16="http://schemas.microsoft.com/office/drawing/2014/main" id="{D508CC0F-991A-79CE-EF63-DCB04B85EBB7}"/>
              </a:ext>
            </a:extLst>
          </p:cNvPr>
          <p:cNvCxnSpPr>
            <a:endCxn id="14" idx="1"/>
          </p:cNvCxnSpPr>
          <p:nvPr/>
        </p:nvCxnSpPr>
        <p:spPr>
          <a:xfrm>
            <a:off x="2177007" y="3429000"/>
            <a:ext cx="11148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C635EA30-9801-33D7-FB01-EC3111451558}"/>
              </a:ext>
            </a:extLst>
          </p:cNvPr>
          <p:cNvCxnSpPr>
            <a:stCxn id="14" idx="3"/>
            <a:endCxn id="16" idx="1"/>
          </p:cNvCxnSpPr>
          <p:nvPr/>
        </p:nvCxnSpPr>
        <p:spPr>
          <a:xfrm>
            <a:off x="6095998" y="3429001"/>
            <a:ext cx="41394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0" name="Ευθεία γραμμή σύνδεσης 29">
            <a:extLst>
              <a:ext uri="{FF2B5EF4-FFF2-40B4-BE49-F238E27FC236}">
                <a16:creationId xmlns:a16="http://schemas.microsoft.com/office/drawing/2014/main" id="{F5A5E3CB-EE6A-EC46-1573-783602D709CA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8543107" y="4970832"/>
            <a:ext cx="2105843" cy="4222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Ευθύγραμμο βέλος σύνδεσης 31">
            <a:extLst>
              <a:ext uri="{FF2B5EF4-FFF2-40B4-BE49-F238E27FC236}">
                <a16:creationId xmlns:a16="http://schemas.microsoft.com/office/drawing/2014/main" id="{B2A921CB-E6F2-2DCF-EFA5-E23458CEDDF9}"/>
              </a:ext>
            </a:extLst>
          </p:cNvPr>
          <p:cNvCxnSpPr>
            <a:stCxn id="16" idx="3"/>
            <a:endCxn id="4" idx="1"/>
          </p:cNvCxnSpPr>
          <p:nvPr/>
        </p:nvCxnSpPr>
        <p:spPr>
          <a:xfrm flipV="1">
            <a:off x="8957055" y="3429000"/>
            <a:ext cx="594479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Ευθύγραμμο βέλος σύνδεσης 34">
            <a:extLst>
              <a:ext uri="{FF2B5EF4-FFF2-40B4-BE49-F238E27FC236}">
                <a16:creationId xmlns:a16="http://schemas.microsoft.com/office/drawing/2014/main" id="{D35DB2FD-D64D-B48B-7757-F7C533D9B9C7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0648950" y="3762230"/>
            <a:ext cx="0" cy="12170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8095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55ECB5C-0FC0-3ADB-C3EF-07D147A7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875FC116-6288-4668-2F53-49914D21F6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4F4B10EA-DFB5-078F-E73F-DE71CCA150DB}"/>
              </a:ext>
            </a:extLst>
          </p:cNvPr>
          <p:cNvSpPr/>
          <p:nvPr/>
        </p:nvSpPr>
        <p:spPr>
          <a:xfrm>
            <a:off x="645049" y="329000"/>
            <a:ext cx="6676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Η </a:t>
            </a:r>
            <a:r>
              <a:rPr lang="en-US" sz="5400" b="1" dirty="0" err="1">
                <a:solidFill>
                  <a:srgbClr val="800020"/>
                </a:solidFill>
              </a:rPr>
              <a:t>Ιερ</a:t>
            </a:r>
            <a:r>
              <a:rPr lang="en-US" sz="5400" b="1" dirty="0">
                <a:solidFill>
                  <a:srgbClr val="800020"/>
                </a:solidFill>
              </a:rPr>
              <a:t>αρχία της VHDL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6EBF199A-C7B1-3D6A-EA7C-2AC4CF417705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A9965CD-26BC-4713-05EC-79D2C6AA8DDC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D13ABD55-8C0C-0788-BD65-A631E23C67A3}"/>
              </a:ext>
            </a:extLst>
          </p:cNvPr>
          <p:cNvSpPr/>
          <p:nvPr/>
        </p:nvSpPr>
        <p:spPr>
          <a:xfrm>
            <a:off x="10826595" y="3274239"/>
            <a:ext cx="1252330" cy="392915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 err="1">
                <a:solidFill>
                  <a:srgbClr val="800020"/>
                </a:solidFill>
              </a:rPr>
              <a:t>Top_Adder</a:t>
            </a:r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19517D58-7830-B5C9-5E6B-F7DDC6B8E315}"/>
              </a:ext>
            </a:extLst>
          </p:cNvPr>
          <p:cNvCxnSpPr>
            <a:cxnSpLocks/>
          </p:cNvCxnSpPr>
          <p:nvPr/>
        </p:nvCxnSpPr>
        <p:spPr>
          <a:xfrm flipV="1">
            <a:off x="809625" y="1181100"/>
            <a:ext cx="9839325" cy="7123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Ορθογώνιο: Στρογγύλεμα γωνιών 9">
            <a:extLst>
              <a:ext uri="{FF2B5EF4-FFF2-40B4-BE49-F238E27FC236}">
                <a16:creationId xmlns:a16="http://schemas.microsoft.com/office/drawing/2014/main" id="{3F1A7980-6773-4F26-F730-2354494692F4}"/>
              </a:ext>
            </a:extLst>
          </p:cNvPr>
          <p:cNvSpPr/>
          <p:nvPr/>
        </p:nvSpPr>
        <p:spPr>
          <a:xfrm>
            <a:off x="809625" y="2421871"/>
            <a:ext cx="1202055" cy="37358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FULL_ADDER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DB559966-54B0-FB62-F812-441CF0D346AF}"/>
              </a:ext>
            </a:extLst>
          </p:cNvPr>
          <p:cNvSpPr/>
          <p:nvPr/>
        </p:nvSpPr>
        <p:spPr>
          <a:xfrm>
            <a:off x="896779" y="4117280"/>
            <a:ext cx="1027746" cy="442583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MUX_2</a:t>
            </a:r>
          </a:p>
          <a:p>
            <a:pPr algn="ctr"/>
            <a:endParaRPr lang="en-US" sz="2400" b="1" dirty="0">
              <a:solidFill>
                <a:srgbClr val="800020"/>
              </a:solidFill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A4081045-CD37-4965-A182-87F200033219}"/>
              </a:ext>
            </a:extLst>
          </p:cNvPr>
          <p:cNvSpPr/>
          <p:nvPr/>
        </p:nvSpPr>
        <p:spPr>
          <a:xfrm>
            <a:off x="2999814" y="2181884"/>
            <a:ext cx="5895704" cy="254896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6000" b="1" dirty="0">
                <a:solidFill>
                  <a:srgbClr val="800020"/>
                </a:solidFill>
              </a:rPr>
              <a:t>CS</a:t>
            </a:r>
            <a:r>
              <a:rPr lang="el-GR" sz="6000" b="1" dirty="0">
                <a:solidFill>
                  <a:srgbClr val="800020"/>
                </a:solidFill>
              </a:rPr>
              <a:t>_</a:t>
            </a:r>
            <a:r>
              <a:rPr lang="en-US" sz="6000" b="1" dirty="0">
                <a:solidFill>
                  <a:srgbClr val="800020"/>
                </a:solidFill>
              </a:rPr>
              <a:t>Combine</a:t>
            </a:r>
          </a:p>
          <a:p>
            <a:endParaRPr lang="en-US" sz="60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</p:txBody>
      </p:sp>
      <p:sp>
        <p:nvSpPr>
          <p:cNvPr id="16" name="Ορθογώνιο: Στρογγύλεμα γωνιών 15">
            <a:extLst>
              <a:ext uri="{FF2B5EF4-FFF2-40B4-BE49-F238E27FC236}">
                <a16:creationId xmlns:a16="http://schemas.microsoft.com/office/drawing/2014/main" id="{1D288AF2-E7E8-5A67-A7FF-9A19FF8D7C15}"/>
              </a:ext>
            </a:extLst>
          </p:cNvPr>
          <p:cNvSpPr/>
          <p:nvPr/>
        </p:nvSpPr>
        <p:spPr>
          <a:xfrm>
            <a:off x="9657477" y="3229034"/>
            <a:ext cx="988134" cy="483325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CSA_8bit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8" name="Ορθογώνιο: Στρογγύλεμα γωνιών 17">
            <a:extLst>
              <a:ext uri="{FF2B5EF4-FFF2-40B4-BE49-F238E27FC236}">
                <a16:creationId xmlns:a16="http://schemas.microsoft.com/office/drawing/2014/main" id="{39F36AE8-E01D-DFD5-451B-F0884755335C}"/>
              </a:ext>
            </a:extLst>
          </p:cNvPr>
          <p:cNvSpPr/>
          <p:nvPr/>
        </p:nvSpPr>
        <p:spPr>
          <a:xfrm>
            <a:off x="11206597" y="4559863"/>
            <a:ext cx="492326" cy="37229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QD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22" name="Ευθεία γραμμή σύνδεσης 21">
            <a:extLst>
              <a:ext uri="{FF2B5EF4-FFF2-40B4-BE49-F238E27FC236}">
                <a16:creationId xmlns:a16="http://schemas.microsoft.com/office/drawing/2014/main" id="{4332BBA3-06EE-4C11-A535-387E4832A332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410652" y="2795451"/>
            <a:ext cx="1" cy="132182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Ευθύγραμμο βέλος σύνδεσης 23">
            <a:extLst>
              <a:ext uri="{FF2B5EF4-FFF2-40B4-BE49-F238E27FC236}">
                <a16:creationId xmlns:a16="http://schemas.microsoft.com/office/drawing/2014/main" id="{87B9A603-F3F7-D6FC-0753-4829ECEAD412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410652" y="3456365"/>
            <a:ext cx="15891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22137694-E31E-705D-8966-84FC4CC6FF3C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8895518" y="3456365"/>
            <a:ext cx="761959" cy="1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Ευθύγραμμο βέλος σύνδεσης 31">
            <a:extLst>
              <a:ext uri="{FF2B5EF4-FFF2-40B4-BE49-F238E27FC236}">
                <a16:creationId xmlns:a16="http://schemas.microsoft.com/office/drawing/2014/main" id="{26925623-3AA4-0CFE-3786-45E647DE312F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10645611" y="3470697"/>
            <a:ext cx="1809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Ευθύγραμμο βέλος σύνδεσης 34">
            <a:extLst>
              <a:ext uri="{FF2B5EF4-FFF2-40B4-BE49-F238E27FC236}">
                <a16:creationId xmlns:a16="http://schemas.microsoft.com/office/drawing/2014/main" id="{7DFA7C66-1B08-78EA-88E1-E64D9FE7C840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452760" y="3667154"/>
            <a:ext cx="0" cy="892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1476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7389E9-981B-9475-14CA-C301088FD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54C949F0-025C-7FA8-6E06-C2EDA6B07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50BC199F-0FDD-E029-CFF0-AA3CBDDA9BED}"/>
              </a:ext>
            </a:extLst>
          </p:cNvPr>
          <p:cNvSpPr/>
          <p:nvPr/>
        </p:nvSpPr>
        <p:spPr>
          <a:xfrm>
            <a:off x="645049" y="329000"/>
            <a:ext cx="6676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Η </a:t>
            </a:r>
            <a:r>
              <a:rPr lang="en-US" sz="5400" b="1" dirty="0" err="1">
                <a:solidFill>
                  <a:srgbClr val="800020"/>
                </a:solidFill>
              </a:rPr>
              <a:t>Ιερ</a:t>
            </a:r>
            <a:r>
              <a:rPr lang="en-US" sz="5400" b="1" dirty="0">
                <a:solidFill>
                  <a:srgbClr val="800020"/>
                </a:solidFill>
              </a:rPr>
              <a:t>αρχία της VHDL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02B19FA9-8EB0-4A27-83C4-4259C6B8D458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254D927-1763-C59B-A1B6-19AB47E70799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9197CC4F-578C-BA4D-807C-7487921BD269}"/>
              </a:ext>
            </a:extLst>
          </p:cNvPr>
          <p:cNvSpPr/>
          <p:nvPr/>
        </p:nvSpPr>
        <p:spPr>
          <a:xfrm>
            <a:off x="10826595" y="3274239"/>
            <a:ext cx="1252330" cy="392915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 err="1">
                <a:solidFill>
                  <a:srgbClr val="800020"/>
                </a:solidFill>
              </a:rPr>
              <a:t>Top_Adder</a:t>
            </a:r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0267C5C2-A82E-7B2F-6395-2AA29CD145DC}"/>
              </a:ext>
            </a:extLst>
          </p:cNvPr>
          <p:cNvCxnSpPr>
            <a:cxnSpLocks/>
          </p:cNvCxnSpPr>
          <p:nvPr/>
        </p:nvCxnSpPr>
        <p:spPr>
          <a:xfrm flipV="1">
            <a:off x="809625" y="1181100"/>
            <a:ext cx="9839325" cy="7123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Ορθογώνιο: Στρογγύλεμα γωνιών 9">
            <a:extLst>
              <a:ext uri="{FF2B5EF4-FFF2-40B4-BE49-F238E27FC236}">
                <a16:creationId xmlns:a16="http://schemas.microsoft.com/office/drawing/2014/main" id="{1EF440B0-B027-B398-C77D-04178E27CA16}"/>
              </a:ext>
            </a:extLst>
          </p:cNvPr>
          <p:cNvSpPr/>
          <p:nvPr/>
        </p:nvSpPr>
        <p:spPr>
          <a:xfrm>
            <a:off x="809625" y="2421871"/>
            <a:ext cx="1202055" cy="37358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FULL_ADDER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2E318289-52FF-67D5-E881-82802E99AA71}"/>
              </a:ext>
            </a:extLst>
          </p:cNvPr>
          <p:cNvSpPr/>
          <p:nvPr/>
        </p:nvSpPr>
        <p:spPr>
          <a:xfrm>
            <a:off x="896779" y="4117280"/>
            <a:ext cx="1027746" cy="442583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MUX_2</a:t>
            </a:r>
          </a:p>
          <a:p>
            <a:pPr algn="ctr"/>
            <a:endParaRPr lang="en-US" sz="2400" b="1" dirty="0">
              <a:solidFill>
                <a:srgbClr val="800020"/>
              </a:solidFill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AD9FBECF-1B10-C70B-DF09-ED3F915467F6}"/>
              </a:ext>
            </a:extLst>
          </p:cNvPr>
          <p:cNvSpPr/>
          <p:nvPr/>
        </p:nvSpPr>
        <p:spPr>
          <a:xfrm>
            <a:off x="2999814" y="2181884"/>
            <a:ext cx="5895704" cy="254896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1400" dirty="0" err="1">
                <a:solidFill>
                  <a:srgbClr val="800020"/>
                </a:solidFill>
              </a:rPr>
              <a:t>Το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  <a:r>
              <a:rPr lang="en-US" sz="1400" dirty="0" err="1">
                <a:solidFill>
                  <a:srgbClr val="800020"/>
                </a:solidFill>
              </a:rPr>
              <a:t>CS_Combine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  <a:r>
              <a:rPr lang="en-US" sz="1400" dirty="0" err="1">
                <a:solidFill>
                  <a:srgbClr val="800020"/>
                </a:solidFill>
              </a:rPr>
              <a:t>είν</a:t>
            </a:r>
            <a:r>
              <a:rPr lang="en-US" sz="1400" dirty="0">
                <a:solidFill>
                  <a:srgbClr val="800020"/>
                </a:solidFill>
              </a:rPr>
              <a:t>αι generic block με παράμετρο W. </a:t>
            </a:r>
            <a:r>
              <a:rPr lang="en-US" sz="1400" dirty="0" err="1">
                <a:solidFill>
                  <a:srgbClr val="800020"/>
                </a:solidFill>
              </a:rPr>
              <a:t>Συνδυάζει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  <a:r>
              <a:rPr lang="en-US" sz="1400" dirty="0" err="1">
                <a:solidFill>
                  <a:srgbClr val="800020"/>
                </a:solidFill>
              </a:rPr>
              <a:t>δύο</a:t>
            </a:r>
            <a:r>
              <a:rPr lang="en-US" sz="1400" dirty="0">
                <a:solidFill>
                  <a:srgbClr val="800020"/>
                </a:solidFill>
              </a:rPr>
              <a:t> conditional-sum blocks π</a:t>
            </a:r>
            <a:r>
              <a:rPr lang="en-US" sz="1400" dirty="0" err="1">
                <a:solidFill>
                  <a:srgbClr val="800020"/>
                </a:solidFill>
              </a:rPr>
              <a:t>λάτους</a:t>
            </a:r>
            <a:r>
              <a:rPr lang="en-US" sz="1400" dirty="0">
                <a:solidFill>
                  <a:srgbClr val="800020"/>
                </a:solidFill>
              </a:rPr>
              <a:t> W και πα</a:t>
            </a:r>
            <a:r>
              <a:rPr lang="en-US" sz="1400" dirty="0" err="1">
                <a:solidFill>
                  <a:srgbClr val="800020"/>
                </a:solidFill>
              </a:rPr>
              <a:t>ράγει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  <a:r>
              <a:rPr lang="en-US" sz="1400" dirty="0" err="1">
                <a:solidFill>
                  <a:srgbClr val="800020"/>
                </a:solidFill>
              </a:rPr>
              <a:t>έν</a:t>
            </a:r>
            <a:r>
              <a:rPr lang="en-US" sz="1400" dirty="0">
                <a:solidFill>
                  <a:srgbClr val="800020"/>
                </a:solidFill>
              </a:rPr>
              <a:t>α μεγαλύτερο block πλάτους 2W. </a:t>
            </a:r>
            <a:r>
              <a:rPr lang="en-US" sz="1400" dirty="0" err="1">
                <a:solidFill>
                  <a:srgbClr val="800020"/>
                </a:solidFill>
              </a:rPr>
              <a:t>Γι</a:t>
            </a:r>
            <a:r>
              <a:rPr lang="en-US" sz="1400" dirty="0">
                <a:solidFill>
                  <a:srgbClr val="800020"/>
                </a:solidFill>
              </a:rPr>
              <a:t>α το συνολικό block κρατάμε δύο αποτελέσματα: s0/cout0 για περίπτωση carry-in 0 και s1/cout1 για περίπτωση carry-in 1. Η επ</a:t>
            </a:r>
            <a:r>
              <a:rPr lang="en-US" sz="1400" dirty="0" err="1">
                <a:solidFill>
                  <a:srgbClr val="800020"/>
                </a:solidFill>
              </a:rPr>
              <a:t>ιλογή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  <a:r>
              <a:rPr lang="en-US" sz="1400" dirty="0" err="1">
                <a:solidFill>
                  <a:srgbClr val="800020"/>
                </a:solidFill>
              </a:rPr>
              <a:t>του</a:t>
            </a:r>
            <a:r>
              <a:rPr lang="en-US" sz="1400" dirty="0">
                <a:solidFill>
                  <a:srgbClr val="800020"/>
                </a:solidFill>
              </a:rPr>
              <a:t> π</a:t>
            </a:r>
            <a:r>
              <a:rPr lang="en-US" sz="1400" dirty="0" err="1">
                <a:solidFill>
                  <a:srgbClr val="800020"/>
                </a:solidFill>
              </a:rPr>
              <a:t>άνω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  <a:r>
              <a:rPr lang="en-US" sz="1400" dirty="0" err="1">
                <a:solidFill>
                  <a:srgbClr val="800020"/>
                </a:solidFill>
              </a:rPr>
              <a:t>μισού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  <a:r>
              <a:rPr lang="en-US" sz="1400" dirty="0" err="1">
                <a:solidFill>
                  <a:srgbClr val="800020"/>
                </a:solidFill>
              </a:rPr>
              <a:t>γίνετ</a:t>
            </a:r>
            <a:r>
              <a:rPr lang="en-US" sz="1400" dirty="0">
                <a:solidFill>
                  <a:srgbClr val="800020"/>
                </a:solidFill>
              </a:rPr>
              <a:t>αι από το carry-out του κάτω μισού.</a:t>
            </a:r>
          </a:p>
          <a:p>
            <a:endParaRPr lang="en-US" sz="6000" b="1" dirty="0">
              <a:solidFill>
                <a:srgbClr val="800020"/>
              </a:solidFill>
            </a:endParaRPr>
          </a:p>
          <a:p>
            <a:pPr algn="ctr"/>
            <a:endParaRPr lang="en-US" sz="3200" b="1" dirty="0">
              <a:solidFill>
                <a:srgbClr val="800020"/>
              </a:solidFill>
            </a:endParaRPr>
          </a:p>
        </p:txBody>
      </p:sp>
      <p:sp>
        <p:nvSpPr>
          <p:cNvPr id="16" name="Ορθογώνιο: Στρογγύλεμα γωνιών 15">
            <a:extLst>
              <a:ext uri="{FF2B5EF4-FFF2-40B4-BE49-F238E27FC236}">
                <a16:creationId xmlns:a16="http://schemas.microsoft.com/office/drawing/2014/main" id="{E0CD1216-A6EA-3A5B-DA30-C94B416DDB5B}"/>
              </a:ext>
            </a:extLst>
          </p:cNvPr>
          <p:cNvSpPr/>
          <p:nvPr/>
        </p:nvSpPr>
        <p:spPr>
          <a:xfrm>
            <a:off x="9657477" y="3229034"/>
            <a:ext cx="988134" cy="483325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CSA_8bit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sp>
        <p:nvSpPr>
          <p:cNvPr id="18" name="Ορθογώνιο: Στρογγύλεμα γωνιών 17">
            <a:extLst>
              <a:ext uri="{FF2B5EF4-FFF2-40B4-BE49-F238E27FC236}">
                <a16:creationId xmlns:a16="http://schemas.microsoft.com/office/drawing/2014/main" id="{3805869E-44FC-FCEF-1DB5-731767CCF1FE}"/>
              </a:ext>
            </a:extLst>
          </p:cNvPr>
          <p:cNvSpPr/>
          <p:nvPr/>
        </p:nvSpPr>
        <p:spPr>
          <a:xfrm>
            <a:off x="11206597" y="4559863"/>
            <a:ext cx="492326" cy="37229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QD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22" name="Ευθεία γραμμή σύνδεσης 21">
            <a:extLst>
              <a:ext uri="{FF2B5EF4-FFF2-40B4-BE49-F238E27FC236}">
                <a16:creationId xmlns:a16="http://schemas.microsoft.com/office/drawing/2014/main" id="{BD975297-DB18-90C2-14C4-F4C72BBCDF8C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410652" y="2795451"/>
            <a:ext cx="1" cy="132182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Ευθύγραμμο βέλος σύνδεσης 23">
            <a:extLst>
              <a:ext uri="{FF2B5EF4-FFF2-40B4-BE49-F238E27FC236}">
                <a16:creationId xmlns:a16="http://schemas.microsoft.com/office/drawing/2014/main" id="{99E9B232-AC92-C7C9-9F58-FCE969F918A2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410652" y="3456365"/>
            <a:ext cx="158916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C4941CD7-67D4-B75B-0734-381520DF726E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8895518" y="3456365"/>
            <a:ext cx="761959" cy="14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Ευθύγραμμο βέλος σύνδεσης 31">
            <a:extLst>
              <a:ext uri="{FF2B5EF4-FFF2-40B4-BE49-F238E27FC236}">
                <a16:creationId xmlns:a16="http://schemas.microsoft.com/office/drawing/2014/main" id="{54C5F6AD-0D54-208F-C8D4-7B3047F389C7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10645611" y="3470697"/>
            <a:ext cx="18098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Ευθύγραμμο βέλος σύνδεσης 34">
            <a:extLst>
              <a:ext uri="{FF2B5EF4-FFF2-40B4-BE49-F238E27FC236}">
                <a16:creationId xmlns:a16="http://schemas.microsoft.com/office/drawing/2014/main" id="{76B326B8-A9B6-F4E1-3BBD-87C19102D8D2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452760" y="3667154"/>
            <a:ext cx="0" cy="892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722562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711CD-A367-2474-7AB8-2FC48672D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A553CFB4-D288-33C0-5671-344C51D1B6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FBE63A40-8D87-8AF1-0D3F-7925CA290F9B}"/>
              </a:ext>
            </a:extLst>
          </p:cNvPr>
          <p:cNvSpPr/>
          <p:nvPr/>
        </p:nvSpPr>
        <p:spPr>
          <a:xfrm>
            <a:off x="645049" y="329000"/>
            <a:ext cx="6676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Η </a:t>
            </a:r>
            <a:r>
              <a:rPr lang="en-US" sz="5400" b="1" dirty="0" err="1">
                <a:solidFill>
                  <a:srgbClr val="800020"/>
                </a:solidFill>
              </a:rPr>
              <a:t>Ιερ</a:t>
            </a:r>
            <a:r>
              <a:rPr lang="en-US" sz="5400" b="1" dirty="0">
                <a:solidFill>
                  <a:srgbClr val="800020"/>
                </a:solidFill>
              </a:rPr>
              <a:t>αρχία της VHDL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3D38A91-5416-37D6-0A39-8ACF6C86CC22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B33D10C-250D-4D46-CEDB-44A9A47B275F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C28C2443-31E4-B36A-711A-DAD29F743613}"/>
              </a:ext>
            </a:extLst>
          </p:cNvPr>
          <p:cNvSpPr/>
          <p:nvPr/>
        </p:nvSpPr>
        <p:spPr>
          <a:xfrm>
            <a:off x="10826595" y="3234251"/>
            <a:ext cx="1252330" cy="392915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 err="1">
                <a:solidFill>
                  <a:srgbClr val="800020"/>
                </a:solidFill>
              </a:rPr>
              <a:t>Top_Adder</a:t>
            </a:r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DF474B7D-69F4-F152-0F5A-2A5E44933CAD}"/>
              </a:ext>
            </a:extLst>
          </p:cNvPr>
          <p:cNvCxnSpPr>
            <a:cxnSpLocks/>
          </p:cNvCxnSpPr>
          <p:nvPr/>
        </p:nvCxnSpPr>
        <p:spPr>
          <a:xfrm flipV="1">
            <a:off x="809625" y="1181100"/>
            <a:ext cx="9839325" cy="7123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Ορθογώνιο: Στρογγύλεμα γωνιών 9">
            <a:extLst>
              <a:ext uri="{FF2B5EF4-FFF2-40B4-BE49-F238E27FC236}">
                <a16:creationId xmlns:a16="http://schemas.microsoft.com/office/drawing/2014/main" id="{FE742CCF-014A-2146-71DD-CC126A48845C}"/>
              </a:ext>
            </a:extLst>
          </p:cNvPr>
          <p:cNvSpPr/>
          <p:nvPr/>
        </p:nvSpPr>
        <p:spPr>
          <a:xfrm>
            <a:off x="809625" y="2421871"/>
            <a:ext cx="1202055" cy="37358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FULL_ADDER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6307B1D3-770E-5402-927B-21D12522CCDE}"/>
              </a:ext>
            </a:extLst>
          </p:cNvPr>
          <p:cNvSpPr/>
          <p:nvPr/>
        </p:nvSpPr>
        <p:spPr>
          <a:xfrm>
            <a:off x="896779" y="4117280"/>
            <a:ext cx="1027746" cy="442583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MUX_2</a:t>
            </a:r>
          </a:p>
          <a:p>
            <a:pPr algn="ctr"/>
            <a:endParaRPr lang="en-US" sz="2400" b="1" dirty="0">
              <a:solidFill>
                <a:srgbClr val="800020"/>
              </a:solidFill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B9E7C775-D499-0057-399F-4C42443DB47D}"/>
              </a:ext>
            </a:extLst>
          </p:cNvPr>
          <p:cNvSpPr/>
          <p:nvPr/>
        </p:nvSpPr>
        <p:spPr>
          <a:xfrm>
            <a:off x="1924525" y="3217017"/>
            <a:ext cx="1306286" cy="54233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CS</a:t>
            </a:r>
            <a:r>
              <a:rPr lang="el-GR" sz="1200" b="1" dirty="0">
                <a:solidFill>
                  <a:srgbClr val="800020"/>
                </a:solidFill>
              </a:rPr>
              <a:t>_</a:t>
            </a:r>
            <a:r>
              <a:rPr lang="en-US" sz="1200" b="1" dirty="0">
                <a:solidFill>
                  <a:srgbClr val="800020"/>
                </a:solidFill>
              </a:rPr>
              <a:t>Combine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6" name="Ορθογώνιο: Στρογγύλεμα γωνιών 15">
            <a:extLst>
              <a:ext uri="{FF2B5EF4-FFF2-40B4-BE49-F238E27FC236}">
                <a16:creationId xmlns:a16="http://schemas.microsoft.com/office/drawing/2014/main" id="{69D559C2-FD9B-45B9-1CB9-60D8A190CDAB}"/>
              </a:ext>
            </a:extLst>
          </p:cNvPr>
          <p:cNvSpPr/>
          <p:nvPr/>
        </p:nvSpPr>
        <p:spPr>
          <a:xfrm>
            <a:off x="3983463" y="2528155"/>
            <a:ext cx="5151811" cy="180169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pPr algn="ctr"/>
            <a:r>
              <a:rPr lang="en-US" sz="6000" b="1" dirty="0">
                <a:solidFill>
                  <a:srgbClr val="800020"/>
                </a:solidFill>
              </a:rPr>
              <a:t>CSA_8bit</a:t>
            </a:r>
            <a:endParaRPr lang="en-US" sz="6000" b="1" dirty="0">
              <a:solidFill>
                <a:schemeClr val="tx1"/>
              </a:solidFill>
            </a:endParaRPr>
          </a:p>
          <a:p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18" name="Ορθογώνιο: Στρογγύλεμα γωνιών 17">
            <a:extLst>
              <a:ext uri="{FF2B5EF4-FFF2-40B4-BE49-F238E27FC236}">
                <a16:creationId xmlns:a16="http://schemas.microsoft.com/office/drawing/2014/main" id="{56852975-D9E6-E671-1FAC-02A60A56AE9E}"/>
              </a:ext>
            </a:extLst>
          </p:cNvPr>
          <p:cNvSpPr/>
          <p:nvPr/>
        </p:nvSpPr>
        <p:spPr>
          <a:xfrm>
            <a:off x="11206597" y="4559863"/>
            <a:ext cx="492326" cy="37229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QD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22" name="Ευθεία γραμμή σύνδεσης 21">
            <a:extLst>
              <a:ext uri="{FF2B5EF4-FFF2-40B4-BE49-F238E27FC236}">
                <a16:creationId xmlns:a16="http://schemas.microsoft.com/office/drawing/2014/main" id="{E80BDB1F-F013-5940-6190-D9805146DA58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410652" y="2795451"/>
            <a:ext cx="1" cy="132182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Ευθύγραμμο βέλος σύνδεσης 23">
            <a:extLst>
              <a:ext uri="{FF2B5EF4-FFF2-40B4-BE49-F238E27FC236}">
                <a16:creationId xmlns:a16="http://schemas.microsoft.com/office/drawing/2014/main" id="{2B1A68FB-344C-2E25-9531-48CDCE792E4C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410652" y="3488183"/>
            <a:ext cx="513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920F3382-47A3-6D4C-7DD7-4B94ADD968F1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230811" y="3488183"/>
            <a:ext cx="775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Ευθύγραμμο βέλος σύνδεσης 31">
            <a:extLst>
              <a:ext uri="{FF2B5EF4-FFF2-40B4-BE49-F238E27FC236}">
                <a16:creationId xmlns:a16="http://schemas.microsoft.com/office/drawing/2014/main" id="{440E61CC-CF83-C3BA-DCDC-ADFE927A084A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>
            <a:off x="9135274" y="3429000"/>
            <a:ext cx="1691321" cy="1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Ευθύγραμμο βέλος σύνδεσης 34">
            <a:extLst>
              <a:ext uri="{FF2B5EF4-FFF2-40B4-BE49-F238E27FC236}">
                <a16:creationId xmlns:a16="http://schemas.microsoft.com/office/drawing/2014/main" id="{6DA36CC3-0DD7-F7A3-D068-F9FA54D739A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452760" y="3627166"/>
            <a:ext cx="0" cy="892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793417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C5315-AAAC-928B-1B8D-164901936A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0DFE2C4A-C7E5-85EB-5B16-9C7D6DF3C9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EAF48336-7B18-5748-4F5E-0C1AC5257F12}"/>
              </a:ext>
            </a:extLst>
          </p:cNvPr>
          <p:cNvSpPr/>
          <p:nvPr/>
        </p:nvSpPr>
        <p:spPr>
          <a:xfrm>
            <a:off x="645049" y="329000"/>
            <a:ext cx="6676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Η </a:t>
            </a:r>
            <a:r>
              <a:rPr lang="en-US" sz="5400" b="1" dirty="0" err="1">
                <a:solidFill>
                  <a:srgbClr val="800020"/>
                </a:solidFill>
              </a:rPr>
              <a:t>Ιερ</a:t>
            </a:r>
            <a:r>
              <a:rPr lang="en-US" sz="5400" b="1" dirty="0">
                <a:solidFill>
                  <a:srgbClr val="800020"/>
                </a:solidFill>
              </a:rPr>
              <a:t>αρχία της VHDL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C37E684-47E2-4828-9A80-96431AE92723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2B903BD-5927-C35A-C4E7-08E130D036F7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18723879-2E48-2F2B-45E5-1D030F7AF9DD}"/>
              </a:ext>
            </a:extLst>
          </p:cNvPr>
          <p:cNvSpPr/>
          <p:nvPr/>
        </p:nvSpPr>
        <p:spPr>
          <a:xfrm>
            <a:off x="10826595" y="3291723"/>
            <a:ext cx="1252330" cy="392915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 err="1">
                <a:solidFill>
                  <a:srgbClr val="800020"/>
                </a:solidFill>
              </a:rPr>
              <a:t>Top_Adder</a:t>
            </a:r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8AEBEE0D-258C-FD62-46F8-BF1DEB609916}"/>
              </a:ext>
            </a:extLst>
          </p:cNvPr>
          <p:cNvCxnSpPr>
            <a:cxnSpLocks/>
          </p:cNvCxnSpPr>
          <p:nvPr/>
        </p:nvCxnSpPr>
        <p:spPr>
          <a:xfrm flipV="1">
            <a:off x="809625" y="1181100"/>
            <a:ext cx="9839325" cy="7123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Ορθογώνιο: Στρογγύλεμα γωνιών 9">
            <a:extLst>
              <a:ext uri="{FF2B5EF4-FFF2-40B4-BE49-F238E27FC236}">
                <a16:creationId xmlns:a16="http://schemas.microsoft.com/office/drawing/2014/main" id="{D73ECA26-3AA4-7430-109A-1DFFAADBB0E6}"/>
              </a:ext>
            </a:extLst>
          </p:cNvPr>
          <p:cNvSpPr/>
          <p:nvPr/>
        </p:nvSpPr>
        <p:spPr>
          <a:xfrm>
            <a:off x="809625" y="2421871"/>
            <a:ext cx="1202055" cy="37358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FULL_ADDER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5ED7AA1C-9D24-FD51-E82F-CA2A565554CB}"/>
              </a:ext>
            </a:extLst>
          </p:cNvPr>
          <p:cNvSpPr/>
          <p:nvPr/>
        </p:nvSpPr>
        <p:spPr>
          <a:xfrm>
            <a:off x="896779" y="4117280"/>
            <a:ext cx="1027746" cy="442583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MUX_2</a:t>
            </a:r>
          </a:p>
          <a:p>
            <a:pPr algn="ctr"/>
            <a:endParaRPr lang="en-US" sz="2400" b="1" dirty="0">
              <a:solidFill>
                <a:srgbClr val="800020"/>
              </a:solidFill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5482279F-FDD2-4FDF-B06F-C596407BBFC5}"/>
              </a:ext>
            </a:extLst>
          </p:cNvPr>
          <p:cNvSpPr/>
          <p:nvPr/>
        </p:nvSpPr>
        <p:spPr>
          <a:xfrm>
            <a:off x="1924525" y="3217017"/>
            <a:ext cx="1306286" cy="54233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CS</a:t>
            </a:r>
            <a:r>
              <a:rPr lang="el-GR" sz="1200" b="1" dirty="0">
                <a:solidFill>
                  <a:srgbClr val="800020"/>
                </a:solidFill>
              </a:rPr>
              <a:t>_</a:t>
            </a:r>
            <a:r>
              <a:rPr lang="en-US" sz="1200" b="1" dirty="0">
                <a:solidFill>
                  <a:srgbClr val="800020"/>
                </a:solidFill>
              </a:rPr>
              <a:t>Combine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6" name="Ορθογώνιο: Στρογγύλεμα γωνιών 15">
            <a:extLst>
              <a:ext uri="{FF2B5EF4-FFF2-40B4-BE49-F238E27FC236}">
                <a16:creationId xmlns:a16="http://schemas.microsoft.com/office/drawing/2014/main" id="{AC2E31DA-DB5B-5164-5894-C0E690504B36}"/>
              </a:ext>
            </a:extLst>
          </p:cNvPr>
          <p:cNvSpPr/>
          <p:nvPr/>
        </p:nvSpPr>
        <p:spPr>
          <a:xfrm>
            <a:off x="3893099" y="1767387"/>
            <a:ext cx="5714365" cy="3441589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r>
              <a:rPr lang="en-US" sz="1400" b="1" dirty="0" err="1">
                <a:solidFill>
                  <a:srgbClr val="800020"/>
                </a:solidFill>
              </a:rPr>
              <a:t>Ρόλος</a:t>
            </a:r>
            <a:r>
              <a:rPr lang="en-US" sz="1400" b="1" dirty="0">
                <a:solidFill>
                  <a:srgbClr val="800020"/>
                </a:solidFill>
              </a:rPr>
              <a:t>: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</a:p>
          <a:p>
            <a:r>
              <a:rPr lang="en-US" sz="1400" dirty="0">
                <a:solidFill>
                  <a:schemeClr val="tx1"/>
                </a:solidFill>
              </a:rPr>
              <a:t>Ο καθα</a:t>
            </a:r>
            <a:r>
              <a:rPr lang="en-US" sz="1400" dirty="0" err="1">
                <a:solidFill>
                  <a:schemeClr val="tx1"/>
                </a:solidFill>
              </a:rPr>
              <a:t>ρά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συνδυ</a:t>
            </a:r>
            <a:r>
              <a:rPr lang="en-US" sz="1400" dirty="0">
                <a:solidFill>
                  <a:schemeClr val="tx1"/>
                </a:solidFill>
              </a:rPr>
              <a:t>αστικός (combinational) πυρήνας του αθροιστή.</a:t>
            </a:r>
          </a:p>
          <a:p>
            <a:r>
              <a:rPr lang="en-US" sz="1400" b="1" dirty="0" err="1">
                <a:solidFill>
                  <a:srgbClr val="800020"/>
                </a:solidFill>
              </a:rPr>
              <a:t>Ιερ</a:t>
            </a:r>
            <a:r>
              <a:rPr lang="en-US" sz="1400" b="1" dirty="0">
                <a:solidFill>
                  <a:srgbClr val="800020"/>
                </a:solidFill>
              </a:rPr>
              <a:t>αρχική Δομή (4 Επίπεδα):</a:t>
            </a:r>
            <a:endParaRPr lang="en-US" sz="1400" dirty="0">
              <a:solidFill>
                <a:srgbClr val="80002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800020"/>
                </a:solidFill>
              </a:rPr>
              <a:t>Level 0 (1-bit):</a:t>
            </a:r>
          </a:p>
          <a:p>
            <a:r>
              <a:rPr lang="en-US" sz="1400" dirty="0">
                <a:solidFill>
                  <a:srgbClr val="800020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Δύο</a:t>
            </a:r>
            <a:r>
              <a:rPr lang="en-US" sz="1400" dirty="0">
                <a:solidFill>
                  <a:schemeClr val="tx1"/>
                </a:solidFill>
              </a:rPr>
              <a:t> Full Adders α</a:t>
            </a:r>
            <a:r>
              <a:rPr lang="en-US" sz="1400" dirty="0" err="1">
                <a:solidFill>
                  <a:schemeClr val="tx1"/>
                </a:solidFill>
              </a:rPr>
              <a:t>νά</a:t>
            </a:r>
            <a:r>
              <a:rPr lang="en-US" sz="1400" dirty="0">
                <a:solidFill>
                  <a:schemeClr val="tx1"/>
                </a:solidFill>
              </a:rPr>
              <a:t> bit (</a:t>
            </a:r>
            <a:r>
              <a:rPr lang="en-US" sz="1400" dirty="0" err="1">
                <a:solidFill>
                  <a:schemeClr val="tx1"/>
                </a:solidFill>
              </a:rPr>
              <a:t>έν</a:t>
            </a:r>
            <a:r>
              <a:rPr lang="en-US" sz="1400" dirty="0">
                <a:solidFill>
                  <a:schemeClr val="tx1"/>
                </a:solidFill>
              </a:rPr>
              <a:t>ας για Cin=0 και ένας για Cin=1).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800020"/>
                </a:solidFill>
              </a:rPr>
              <a:t>Level 1 (2-bit):</a:t>
            </a: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Τέσσερ</a:t>
            </a:r>
            <a:r>
              <a:rPr lang="en-US" sz="1400" dirty="0">
                <a:solidFill>
                  <a:schemeClr val="tx1"/>
                </a:solidFill>
              </a:rPr>
              <a:t>α blocks των 2-bit (χρήση CS_Combine με W=1).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800020"/>
                </a:solidFill>
              </a:rPr>
              <a:t>Level 2 (4-bit):</a:t>
            </a:r>
          </a:p>
          <a:p>
            <a:r>
              <a:rPr lang="en-US" sz="1400" dirty="0">
                <a:solidFill>
                  <a:srgbClr val="800020"/>
                </a:solidFill>
              </a:rPr>
              <a:t> 	</a:t>
            </a:r>
            <a:r>
              <a:rPr lang="en-US" sz="1400" dirty="0" err="1">
                <a:solidFill>
                  <a:schemeClr val="tx1"/>
                </a:solidFill>
              </a:rPr>
              <a:t>Δύο</a:t>
            </a:r>
            <a:r>
              <a:rPr lang="en-US" sz="1400" dirty="0">
                <a:solidFill>
                  <a:schemeClr val="tx1"/>
                </a:solidFill>
              </a:rPr>
              <a:t> blocks </a:t>
            </a:r>
            <a:r>
              <a:rPr lang="en-US" sz="1400" dirty="0" err="1">
                <a:solidFill>
                  <a:schemeClr val="tx1"/>
                </a:solidFill>
              </a:rPr>
              <a:t>των</a:t>
            </a:r>
            <a:r>
              <a:rPr lang="en-US" sz="1400" dirty="0">
                <a:solidFill>
                  <a:schemeClr val="tx1"/>
                </a:solidFill>
              </a:rPr>
              <a:t> 4-bit (</a:t>
            </a:r>
            <a:r>
              <a:rPr lang="en-US" sz="1400" dirty="0" err="1">
                <a:solidFill>
                  <a:schemeClr val="tx1"/>
                </a:solidFill>
              </a:rPr>
              <a:t>χρήση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CS_Combine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με</a:t>
            </a:r>
            <a:r>
              <a:rPr lang="en-US" sz="1400" dirty="0">
                <a:solidFill>
                  <a:schemeClr val="tx1"/>
                </a:solidFill>
              </a:rPr>
              <a:t> W=2).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>
                <a:solidFill>
                  <a:srgbClr val="800020"/>
                </a:solidFill>
              </a:rPr>
              <a:t>Level 3 (8-bit):</a:t>
            </a:r>
          </a:p>
          <a:p>
            <a:r>
              <a:rPr lang="en-US" sz="1400" dirty="0">
                <a:solidFill>
                  <a:schemeClr val="tx1"/>
                </a:solidFill>
              </a:rPr>
              <a:t>	</a:t>
            </a:r>
            <a:r>
              <a:rPr lang="en-US" sz="1400" dirty="0" err="1">
                <a:solidFill>
                  <a:schemeClr val="tx1"/>
                </a:solidFill>
              </a:rPr>
              <a:t>Έν</a:t>
            </a:r>
            <a:r>
              <a:rPr lang="en-US" sz="1400" dirty="0">
                <a:solidFill>
                  <a:schemeClr val="tx1"/>
                </a:solidFill>
              </a:rPr>
              <a:t>α τελικό block 8-bit (χρήση CS_Combine με W=4).</a:t>
            </a:r>
          </a:p>
          <a:p>
            <a:r>
              <a:rPr lang="en-US" sz="1400" b="1" dirty="0" err="1">
                <a:solidFill>
                  <a:srgbClr val="800020"/>
                </a:solidFill>
              </a:rPr>
              <a:t>Τελικό</a:t>
            </a:r>
            <a:r>
              <a:rPr lang="en-US" sz="1400" b="1" dirty="0">
                <a:solidFill>
                  <a:srgbClr val="800020"/>
                </a:solidFill>
              </a:rPr>
              <a:t> Απ</a:t>
            </a:r>
            <a:r>
              <a:rPr lang="en-US" sz="1400" b="1" dirty="0" err="1">
                <a:solidFill>
                  <a:srgbClr val="800020"/>
                </a:solidFill>
              </a:rPr>
              <a:t>οτέλεσμ</a:t>
            </a:r>
            <a:r>
              <a:rPr lang="en-US" sz="1400" b="1" dirty="0">
                <a:solidFill>
                  <a:srgbClr val="800020"/>
                </a:solidFill>
              </a:rPr>
              <a:t>α: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Έν</a:t>
            </a:r>
            <a:r>
              <a:rPr lang="en-US" sz="1400" dirty="0">
                <a:solidFill>
                  <a:schemeClr val="tx1"/>
                </a:solidFill>
              </a:rPr>
              <a:t>ας κεντρικός πολυπλέκτης (FINAL_SUM_MUX) χρησιμοποιεί το πραγματικό εξωτερικό C{in} για να επιλέξει την τελική έξοδο {Cout}, S}.</a:t>
            </a:r>
          </a:p>
          <a:p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18" name="Ορθογώνιο: Στρογγύλεμα γωνιών 17">
            <a:extLst>
              <a:ext uri="{FF2B5EF4-FFF2-40B4-BE49-F238E27FC236}">
                <a16:creationId xmlns:a16="http://schemas.microsoft.com/office/drawing/2014/main" id="{0F968B4D-DE1F-28C9-5769-584E2E032CD5}"/>
              </a:ext>
            </a:extLst>
          </p:cNvPr>
          <p:cNvSpPr/>
          <p:nvPr/>
        </p:nvSpPr>
        <p:spPr>
          <a:xfrm>
            <a:off x="11206597" y="4559863"/>
            <a:ext cx="492326" cy="37229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QD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22" name="Ευθεία γραμμή σύνδεσης 21">
            <a:extLst>
              <a:ext uri="{FF2B5EF4-FFF2-40B4-BE49-F238E27FC236}">
                <a16:creationId xmlns:a16="http://schemas.microsoft.com/office/drawing/2014/main" id="{070AFBC0-EBEA-6A2C-CC72-B5364811E71E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410652" y="2795451"/>
            <a:ext cx="1" cy="132182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Ευθύγραμμο βέλος σύνδεσης 23">
            <a:extLst>
              <a:ext uri="{FF2B5EF4-FFF2-40B4-BE49-F238E27FC236}">
                <a16:creationId xmlns:a16="http://schemas.microsoft.com/office/drawing/2014/main" id="{D4160F27-6251-B3F5-5FB8-8784643544D8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410652" y="3488183"/>
            <a:ext cx="513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EA4DDFA9-A84F-0BB1-C6BD-0C3DF065ACB5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 flipV="1">
            <a:off x="3230811" y="3488182"/>
            <a:ext cx="662288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Ευθύγραμμο βέλος σύνδεσης 31">
            <a:extLst>
              <a:ext uri="{FF2B5EF4-FFF2-40B4-BE49-F238E27FC236}">
                <a16:creationId xmlns:a16="http://schemas.microsoft.com/office/drawing/2014/main" id="{B9F9E5D7-FE2F-A0A6-8FC9-89B1D06472CA}"/>
              </a:ext>
            </a:extLst>
          </p:cNvPr>
          <p:cNvCxnSpPr>
            <a:cxnSpLocks/>
            <a:stCxn id="16" idx="3"/>
            <a:endCxn id="4" idx="1"/>
          </p:cNvCxnSpPr>
          <p:nvPr/>
        </p:nvCxnSpPr>
        <p:spPr>
          <a:xfrm flipV="1">
            <a:off x="9607464" y="3488181"/>
            <a:ext cx="1219131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5" name="Ευθύγραμμο βέλος σύνδεσης 34">
            <a:extLst>
              <a:ext uri="{FF2B5EF4-FFF2-40B4-BE49-F238E27FC236}">
                <a16:creationId xmlns:a16="http://schemas.microsoft.com/office/drawing/2014/main" id="{B2D6F648-D680-80FE-66F7-749285ECEEA4}"/>
              </a:ext>
            </a:extLst>
          </p:cNvPr>
          <p:cNvCxnSpPr>
            <a:cxnSpLocks/>
            <a:endCxn id="4" idx="2"/>
          </p:cNvCxnSpPr>
          <p:nvPr/>
        </p:nvCxnSpPr>
        <p:spPr>
          <a:xfrm flipV="1">
            <a:off x="11452760" y="3684638"/>
            <a:ext cx="0" cy="8927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20994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F02B2-5051-5A4C-5D55-C5010EE9E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B0414B27-9C73-CA9E-ED57-016D4B65BD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BB09D61E-C420-137C-C082-DA85CA2A9794}"/>
              </a:ext>
            </a:extLst>
          </p:cNvPr>
          <p:cNvSpPr/>
          <p:nvPr/>
        </p:nvSpPr>
        <p:spPr>
          <a:xfrm>
            <a:off x="645049" y="329000"/>
            <a:ext cx="6676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Η </a:t>
            </a:r>
            <a:r>
              <a:rPr lang="en-US" sz="5400" b="1" dirty="0" err="1">
                <a:solidFill>
                  <a:srgbClr val="800020"/>
                </a:solidFill>
              </a:rPr>
              <a:t>Ιερ</a:t>
            </a:r>
            <a:r>
              <a:rPr lang="en-US" sz="5400" b="1" dirty="0">
                <a:solidFill>
                  <a:srgbClr val="800020"/>
                </a:solidFill>
              </a:rPr>
              <a:t>αρχία της VHDL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75F27205-D897-CD4D-47D3-E017933ED38E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C90B7B3-25E7-78AE-BA03-7B1742E1AB59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2364CC20-C731-B2C2-C3C7-B90785A98AFB}"/>
              </a:ext>
            </a:extLst>
          </p:cNvPr>
          <p:cNvSpPr/>
          <p:nvPr/>
        </p:nvSpPr>
        <p:spPr>
          <a:xfrm>
            <a:off x="6191793" y="2104430"/>
            <a:ext cx="4223658" cy="2069888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pPr algn="ctr"/>
            <a:r>
              <a:rPr lang="en-US" sz="6000" b="1" dirty="0" err="1">
                <a:solidFill>
                  <a:srgbClr val="800020"/>
                </a:solidFill>
              </a:rPr>
              <a:t>Top_Adder</a:t>
            </a:r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7068241F-5B9F-71B8-BFA3-4DB3E66A2957}"/>
              </a:ext>
            </a:extLst>
          </p:cNvPr>
          <p:cNvCxnSpPr>
            <a:cxnSpLocks/>
          </p:cNvCxnSpPr>
          <p:nvPr/>
        </p:nvCxnSpPr>
        <p:spPr>
          <a:xfrm flipV="1">
            <a:off x="809625" y="1181100"/>
            <a:ext cx="9839325" cy="7123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Ορθογώνιο: Στρογγύλεμα γωνιών 9">
            <a:extLst>
              <a:ext uri="{FF2B5EF4-FFF2-40B4-BE49-F238E27FC236}">
                <a16:creationId xmlns:a16="http://schemas.microsoft.com/office/drawing/2014/main" id="{61B8D83A-4BD4-A893-03E5-20CD795554A9}"/>
              </a:ext>
            </a:extLst>
          </p:cNvPr>
          <p:cNvSpPr/>
          <p:nvPr/>
        </p:nvSpPr>
        <p:spPr>
          <a:xfrm>
            <a:off x="809625" y="2421871"/>
            <a:ext cx="1202055" cy="37358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FULL_ADDER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59B2DF55-4357-1901-ACEA-D1224A2539F7}"/>
              </a:ext>
            </a:extLst>
          </p:cNvPr>
          <p:cNvSpPr/>
          <p:nvPr/>
        </p:nvSpPr>
        <p:spPr>
          <a:xfrm>
            <a:off x="896779" y="4117280"/>
            <a:ext cx="1027746" cy="442583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MUX_2</a:t>
            </a:r>
          </a:p>
          <a:p>
            <a:pPr algn="ctr"/>
            <a:endParaRPr lang="en-US" sz="2400" b="1" dirty="0">
              <a:solidFill>
                <a:srgbClr val="800020"/>
              </a:solidFill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97DDFA02-FB44-2615-BDEF-A965C3C1F4A2}"/>
              </a:ext>
            </a:extLst>
          </p:cNvPr>
          <p:cNvSpPr/>
          <p:nvPr/>
        </p:nvSpPr>
        <p:spPr>
          <a:xfrm>
            <a:off x="1924525" y="3217017"/>
            <a:ext cx="1306286" cy="54233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CS</a:t>
            </a:r>
            <a:r>
              <a:rPr lang="el-GR" sz="1200" b="1" dirty="0">
                <a:solidFill>
                  <a:srgbClr val="800020"/>
                </a:solidFill>
              </a:rPr>
              <a:t>_</a:t>
            </a:r>
            <a:r>
              <a:rPr lang="en-US" sz="1200" b="1" dirty="0">
                <a:solidFill>
                  <a:srgbClr val="800020"/>
                </a:solidFill>
              </a:rPr>
              <a:t>Combine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6" name="Ορθογώνιο: Στρογγύλεμα γωνιών 15">
            <a:extLst>
              <a:ext uri="{FF2B5EF4-FFF2-40B4-BE49-F238E27FC236}">
                <a16:creationId xmlns:a16="http://schemas.microsoft.com/office/drawing/2014/main" id="{CD29B749-D4AE-9677-F6ED-73ABAD286D40}"/>
              </a:ext>
            </a:extLst>
          </p:cNvPr>
          <p:cNvSpPr/>
          <p:nvPr/>
        </p:nvSpPr>
        <p:spPr>
          <a:xfrm>
            <a:off x="4028565" y="3152508"/>
            <a:ext cx="1252329" cy="621474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CSA_8bit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18" name="Ορθογώνιο: Στρογγύλεμα γωνιών 17">
            <a:extLst>
              <a:ext uri="{FF2B5EF4-FFF2-40B4-BE49-F238E27FC236}">
                <a16:creationId xmlns:a16="http://schemas.microsoft.com/office/drawing/2014/main" id="{C73CFD14-A6AA-F4B7-5C14-33E19F9C9522}"/>
              </a:ext>
            </a:extLst>
          </p:cNvPr>
          <p:cNvSpPr/>
          <p:nvPr/>
        </p:nvSpPr>
        <p:spPr>
          <a:xfrm>
            <a:off x="11300787" y="2966363"/>
            <a:ext cx="492326" cy="37229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QD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22" name="Ευθεία γραμμή σύνδεσης 21">
            <a:extLst>
              <a:ext uri="{FF2B5EF4-FFF2-40B4-BE49-F238E27FC236}">
                <a16:creationId xmlns:a16="http://schemas.microsoft.com/office/drawing/2014/main" id="{CCE9E567-980C-93FC-6B5A-80A510058783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410652" y="2795451"/>
            <a:ext cx="1" cy="132182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Ευθύγραμμο βέλος σύνδεσης 23">
            <a:extLst>
              <a:ext uri="{FF2B5EF4-FFF2-40B4-BE49-F238E27FC236}">
                <a16:creationId xmlns:a16="http://schemas.microsoft.com/office/drawing/2014/main" id="{7C7A67C1-7D71-C92E-136E-DDAB4288862D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410652" y="3488183"/>
            <a:ext cx="513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0B46D072-85FF-A7F7-54E2-D8420ECB9B2B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230811" y="3488183"/>
            <a:ext cx="775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Ευθύγραμμο βέλος σύνδεσης 31">
            <a:extLst>
              <a:ext uri="{FF2B5EF4-FFF2-40B4-BE49-F238E27FC236}">
                <a16:creationId xmlns:a16="http://schemas.microsoft.com/office/drawing/2014/main" id="{078766A8-5DFB-7E39-2F17-BAFAC0FA4D4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280894" y="3463245"/>
            <a:ext cx="910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Ευθύγραμμο βέλος σύνδεσης 16">
            <a:extLst>
              <a:ext uri="{FF2B5EF4-FFF2-40B4-BE49-F238E27FC236}">
                <a16:creationId xmlns:a16="http://schemas.microsoft.com/office/drawing/2014/main" id="{7876D694-A3E3-2785-30DF-6769C9A5CD86}"/>
              </a:ext>
            </a:extLst>
          </p:cNvPr>
          <p:cNvCxnSpPr>
            <a:stCxn id="18" idx="1"/>
            <a:endCxn id="4" idx="3"/>
          </p:cNvCxnSpPr>
          <p:nvPr/>
        </p:nvCxnSpPr>
        <p:spPr>
          <a:xfrm flipH="1" flipV="1">
            <a:off x="10415451" y="3139374"/>
            <a:ext cx="885336" cy="1313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88954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21ABD1-A4BC-E71A-94A4-AE46C405D9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B8C79F79-BAF2-E13F-46A8-7951A2FC86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34F43752-C653-AB56-1C87-E950857B65FB}"/>
              </a:ext>
            </a:extLst>
          </p:cNvPr>
          <p:cNvSpPr/>
          <p:nvPr/>
        </p:nvSpPr>
        <p:spPr>
          <a:xfrm>
            <a:off x="645049" y="329000"/>
            <a:ext cx="667682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Η </a:t>
            </a:r>
            <a:r>
              <a:rPr lang="en-US" sz="5400" b="1" dirty="0" err="1">
                <a:solidFill>
                  <a:srgbClr val="800020"/>
                </a:solidFill>
              </a:rPr>
              <a:t>Ιερ</a:t>
            </a:r>
            <a:r>
              <a:rPr lang="en-US" sz="5400" b="1" dirty="0">
                <a:solidFill>
                  <a:srgbClr val="800020"/>
                </a:solidFill>
              </a:rPr>
              <a:t>αρχία της VHDL</a:t>
            </a:r>
            <a:endParaRPr lang="el-GR" sz="54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653C8A0E-43DA-8A14-415C-6BE0B5B299F9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818AFE5-C710-BC07-5C73-7DA986BA383F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sp>
        <p:nvSpPr>
          <p:cNvPr id="4" name="Ορθογώνιο: Στρογγύλεμα γωνιών 3">
            <a:extLst>
              <a:ext uri="{FF2B5EF4-FFF2-40B4-BE49-F238E27FC236}">
                <a16:creationId xmlns:a16="http://schemas.microsoft.com/office/drawing/2014/main" id="{2B588852-675E-3842-B730-499F527345F3}"/>
              </a:ext>
            </a:extLst>
          </p:cNvPr>
          <p:cNvSpPr/>
          <p:nvPr/>
        </p:nvSpPr>
        <p:spPr>
          <a:xfrm>
            <a:off x="6191794" y="1619795"/>
            <a:ext cx="4747874" cy="2985902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rgbClr val="800020"/>
              </a:solidFill>
            </a:endParaRPr>
          </a:p>
          <a:p>
            <a:r>
              <a:rPr lang="en-US" sz="1400" b="1" dirty="0" err="1">
                <a:solidFill>
                  <a:srgbClr val="800020"/>
                </a:solidFill>
              </a:rPr>
              <a:t>Ροή</a:t>
            </a:r>
            <a:r>
              <a:rPr lang="en-US" sz="1400" b="1" dirty="0">
                <a:solidFill>
                  <a:srgbClr val="800020"/>
                </a:solidFill>
              </a:rPr>
              <a:t> </a:t>
            </a:r>
            <a:r>
              <a:rPr lang="en-US" sz="1400" b="1" dirty="0" err="1">
                <a:solidFill>
                  <a:srgbClr val="800020"/>
                </a:solidFill>
              </a:rPr>
              <a:t>Δεδομένων</a:t>
            </a:r>
            <a:r>
              <a:rPr lang="en-US" sz="1400" b="1" dirty="0">
                <a:solidFill>
                  <a:srgbClr val="800020"/>
                </a:solidFill>
              </a:rPr>
              <a:t>:</a:t>
            </a:r>
          </a:p>
          <a:p>
            <a:endParaRPr lang="en-US" sz="1400" dirty="0">
              <a:solidFill>
                <a:srgbClr val="800020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Οι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είσοδοι</a:t>
            </a:r>
            <a:r>
              <a:rPr lang="en-US" sz="1400" dirty="0">
                <a:solidFill>
                  <a:schemeClr val="tx1"/>
                </a:solidFill>
              </a:rPr>
              <a:t> (A{in}, B{in}, C{</a:t>
            </a:r>
            <a:r>
              <a:rPr lang="en-US" sz="1400" dirty="0" err="1">
                <a:solidFill>
                  <a:schemeClr val="tx1"/>
                </a:solidFill>
              </a:rPr>
              <a:t>in_in</a:t>
            </a:r>
            <a:r>
              <a:rPr lang="en-US" sz="1400" dirty="0">
                <a:solidFill>
                  <a:schemeClr val="tx1"/>
                </a:solidFill>
              </a:rPr>
              <a:t>}) απ</a:t>
            </a:r>
            <a:r>
              <a:rPr lang="en-US" sz="1400" dirty="0" err="1">
                <a:solidFill>
                  <a:schemeClr val="tx1"/>
                </a:solidFill>
              </a:rPr>
              <a:t>οθηκεύοντ</a:t>
            </a:r>
            <a:r>
              <a:rPr lang="en-US" sz="1400" dirty="0">
                <a:solidFill>
                  <a:schemeClr val="tx1"/>
                </a:solidFill>
              </a:rPr>
              <a:t>αι πρώτα σε καταχωρητές εισόδου (QD registers).</a:t>
            </a:r>
          </a:p>
          <a:p>
            <a:r>
              <a:rPr lang="en-US" sz="1400" dirty="0">
                <a:solidFill>
                  <a:schemeClr val="tx1"/>
                </a:solidFill>
              </a:rPr>
              <a:t>Τα </a:t>
            </a:r>
            <a:r>
              <a:rPr lang="en-US" sz="1400" dirty="0" err="1">
                <a:solidFill>
                  <a:schemeClr val="tx1"/>
                </a:solidFill>
              </a:rPr>
              <a:t>σήμ</a:t>
            </a:r>
            <a:r>
              <a:rPr lang="en-US" sz="1400" dirty="0">
                <a:solidFill>
                  <a:schemeClr val="tx1"/>
                </a:solidFill>
              </a:rPr>
              <a:t>ατα επεξεργάζονται στον combinational πυρήνα CSA_8bit.</a:t>
            </a:r>
          </a:p>
          <a:p>
            <a:r>
              <a:rPr lang="en-US" sz="1400" dirty="0" err="1">
                <a:solidFill>
                  <a:schemeClr val="tx1"/>
                </a:solidFill>
              </a:rPr>
              <a:t>Οι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έξοδοι</a:t>
            </a:r>
            <a:r>
              <a:rPr lang="en-US" sz="1400" dirty="0">
                <a:solidFill>
                  <a:schemeClr val="tx1"/>
                </a:solidFill>
              </a:rPr>
              <a:t> (S{out}, C{</a:t>
            </a:r>
            <a:r>
              <a:rPr lang="en-US" sz="1400" dirty="0" err="1">
                <a:solidFill>
                  <a:schemeClr val="tx1"/>
                </a:solidFill>
              </a:rPr>
              <a:t>out_out</a:t>
            </a:r>
            <a:r>
              <a:rPr lang="en-US" sz="1400" dirty="0">
                <a:solidFill>
                  <a:schemeClr val="tx1"/>
                </a:solidFill>
              </a:rPr>
              <a:t>}) π</a:t>
            </a:r>
            <a:r>
              <a:rPr lang="en-US" sz="1400" dirty="0" err="1">
                <a:solidFill>
                  <a:schemeClr val="tx1"/>
                </a:solidFill>
              </a:rPr>
              <a:t>ερνούν</a:t>
            </a:r>
            <a:r>
              <a:rPr lang="en-US" sz="1400" dirty="0">
                <a:solidFill>
                  <a:schemeClr val="tx1"/>
                </a:solidFill>
              </a:rPr>
              <a:t> από κατα</a:t>
            </a:r>
            <a:r>
              <a:rPr lang="en-US" sz="1400" dirty="0" err="1">
                <a:solidFill>
                  <a:schemeClr val="tx1"/>
                </a:solidFill>
              </a:rPr>
              <a:t>χωρητές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εξόδου</a:t>
            </a:r>
            <a:r>
              <a:rPr lang="en-US" sz="1400" dirty="0">
                <a:solidFill>
                  <a:schemeClr val="tx1"/>
                </a:solidFill>
              </a:rPr>
              <a:t> π</a:t>
            </a:r>
            <a:r>
              <a:rPr lang="en-US" sz="1400" dirty="0" err="1">
                <a:solidFill>
                  <a:schemeClr val="tx1"/>
                </a:solidFill>
              </a:rPr>
              <a:t>ριν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την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τελική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έξοδο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r>
              <a:rPr lang="en-US" sz="1400" b="1" dirty="0">
                <a:solidFill>
                  <a:srgbClr val="800020"/>
                </a:solidFill>
              </a:rPr>
              <a:t>Κα</a:t>
            </a:r>
            <a:r>
              <a:rPr lang="en-US" sz="1400" b="1" dirty="0" err="1">
                <a:solidFill>
                  <a:srgbClr val="800020"/>
                </a:solidFill>
              </a:rPr>
              <a:t>θυστέρηση</a:t>
            </a:r>
            <a:r>
              <a:rPr lang="en-US" sz="1400" b="1" dirty="0">
                <a:solidFill>
                  <a:srgbClr val="800020"/>
                </a:solidFill>
              </a:rPr>
              <a:t> (Latency):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</a:p>
          <a:p>
            <a:endParaRPr lang="en-US" sz="1400" dirty="0">
              <a:solidFill>
                <a:srgbClr val="800020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Λόγω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της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δι</a:t>
            </a:r>
            <a:r>
              <a:rPr lang="en-US" sz="1400" dirty="0">
                <a:solidFill>
                  <a:schemeClr val="tx1"/>
                </a:solidFill>
              </a:rPr>
              <a:t>πλής καταχώρησης, το έγκυρο αποτέλεσμα εμφανίζεται στην έξοδο μετά από </a:t>
            </a:r>
            <a:r>
              <a:rPr lang="en-US" sz="1400" b="1" dirty="0">
                <a:solidFill>
                  <a:schemeClr val="tx1"/>
                </a:solidFill>
              </a:rPr>
              <a:t>2 κύκλους ρολογιού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pPr algn="ctr"/>
            <a:endParaRPr lang="en-US" sz="1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6" name="Ευθεία γραμμή σύνδεσης 5">
            <a:extLst>
              <a:ext uri="{FF2B5EF4-FFF2-40B4-BE49-F238E27FC236}">
                <a16:creationId xmlns:a16="http://schemas.microsoft.com/office/drawing/2014/main" id="{A207DDBB-0C79-159A-C4AC-3557D6118BC0}"/>
              </a:ext>
            </a:extLst>
          </p:cNvPr>
          <p:cNvCxnSpPr>
            <a:cxnSpLocks/>
          </p:cNvCxnSpPr>
          <p:nvPr/>
        </p:nvCxnSpPr>
        <p:spPr>
          <a:xfrm flipV="1">
            <a:off x="809625" y="1181100"/>
            <a:ext cx="9839325" cy="7123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Ορθογώνιο: Στρογγύλεμα γωνιών 9">
            <a:extLst>
              <a:ext uri="{FF2B5EF4-FFF2-40B4-BE49-F238E27FC236}">
                <a16:creationId xmlns:a16="http://schemas.microsoft.com/office/drawing/2014/main" id="{B0AE351B-F2D0-AD23-435B-B943463B2BBD}"/>
              </a:ext>
            </a:extLst>
          </p:cNvPr>
          <p:cNvSpPr/>
          <p:nvPr/>
        </p:nvSpPr>
        <p:spPr>
          <a:xfrm>
            <a:off x="809625" y="2421871"/>
            <a:ext cx="1202055" cy="37358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FULL_ADDER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2" name="Ορθογώνιο: Στρογγύλεμα γωνιών 11">
            <a:extLst>
              <a:ext uri="{FF2B5EF4-FFF2-40B4-BE49-F238E27FC236}">
                <a16:creationId xmlns:a16="http://schemas.microsoft.com/office/drawing/2014/main" id="{537B39DC-67CD-E63E-8D3C-6D23F0A24870}"/>
              </a:ext>
            </a:extLst>
          </p:cNvPr>
          <p:cNvSpPr/>
          <p:nvPr/>
        </p:nvSpPr>
        <p:spPr>
          <a:xfrm>
            <a:off x="896779" y="4117280"/>
            <a:ext cx="1027746" cy="442583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MUX_2</a:t>
            </a:r>
          </a:p>
          <a:p>
            <a:pPr algn="ctr"/>
            <a:endParaRPr lang="en-US" sz="2400" b="1" dirty="0">
              <a:solidFill>
                <a:srgbClr val="800020"/>
              </a:solidFill>
            </a:endParaRPr>
          </a:p>
        </p:txBody>
      </p:sp>
      <p:sp>
        <p:nvSpPr>
          <p:cNvPr id="14" name="Ορθογώνιο: Στρογγύλεμα γωνιών 13">
            <a:extLst>
              <a:ext uri="{FF2B5EF4-FFF2-40B4-BE49-F238E27FC236}">
                <a16:creationId xmlns:a16="http://schemas.microsoft.com/office/drawing/2014/main" id="{E1A99AE9-1E44-A2A1-0B23-B6C5C77BB570}"/>
              </a:ext>
            </a:extLst>
          </p:cNvPr>
          <p:cNvSpPr/>
          <p:nvPr/>
        </p:nvSpPr>
        <p:spPr>
          <a:xfrm>
            <a:off x="1924525" y="3217017"/>
            <a:ext cx="1306286" cy="542331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CS</a:t>
            </a:r>
            <a:r>
              <a:rPr lang="el-GR" sz="1200" b="1" dirty="0">
                <a:solidFill>
                  <a:srgbClr val="800020"/>
                </a:solidFill>
              </a:rPr>
              <a:t>_</a:t>
            </a:r>
            <a:r>
              <a:rPr lang="en-US" sz="1200" b="1" dirty="0">
                <a:solidFill>
                  <a:srgbClr val="800020"/>
                </a:solidFill>
              </a:rPr>
              <a:t>Combine</a:t>
            </a:r>
          </a:p>
          <a:p>
            <a:endParaRPr lang="en-US" sz="1200" b="1" dirty="0">
              <a:solidFill>
                <a:srgbClr val="800020"/>
              </a:solidFill>
            </a:endParaRPr>
          </a:p>
          <a:p>
            <a:pPr algn="ctr"/>
            <a:endParaRPr lang="en-US" sz="1200" b="1" dirty="0">
              <a:solidFill>
                <a:srgbClr val="800020"/>
              </a:solidFill>
            </a:endParaRPr>
          </a:p>
        </p:txBody>
      </p:sp>
      <p:sp>
        <p:nvSpPr>
          <p:cNvPr id="16" name="Ορθογώνιο: Στρογγύλεμα γωνιών 15">
            <a:extLst>
              <a:ext uri="{FF2B5EF4-FFF2-40B4-BE49-F238E27FC236}">
                <a16:creationId xmlns:a16="http://schemas.microsoft.com/office/drawing/2014/main" id="{703A033E-AD8C-4450-112E-834C0C63C3CC}"/>
              </a:ext>
            </a:extLst>
          </p:cNvPr>
          <p:cNvSpPr/>
          <p:nvPr/>
        </p:nvSpPr>
        <p:spPr>
          <a:xfrm>
            <a:off x="4028565" y="3152508"/>
            <a:ext cx="1252329" cy="621474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60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CSA_8bit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6000" b="1" dirty="0">
              <a:solidFill>
                <a:schemeClr val="tx1"/>
              </a:solidFill>
            </a:endParaRPr>
          </a:p>
          <a:p>
            <a:pPr algn="ctr"/>
            <a:endParaRPr lang="en-US" sz="6000" b="1" dirty="0">
              <a:solidFill>
                <a:schemeClr val="tx1"/>
              </a:solidFill>
            </a:endParaRPr>
          </a:p>
        </p:txBody>
      </p:sp>
      <p:sp>
        <p:nvSpPr>
          <p:cNvPr id="18" name="Ορθογώνιο: Στρογγύλεμα γωνιών 17">
            <a:extLst>
              <a:ext uri="{FF2B5EF4-FFF2-40B4-BE49-F238E27FC236}">
                <a16:creationId xmlns:a16="http://schemas.microsoft.com/office/drawing/2014/main" id="{ADFB8E5A-869F-F9B1-AEFE-8BFE5BA0527E}"/>
              </a:ext>
            </a:extLst>
          </p:cNvPr>
          <p:cNvSpPr/>
          <p:nvPr/>
        </p:nvSpPr>
        <p:spPr>
          <a:xfrm>
            <a:off x="11440124" y="2926601"/>
            <a:ext cx="492326" cy="372290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sz="1200" b="1" dirty="0">
                <a:solidFill>
                  <a:srgbClr val="800020"/>
                </a:solidFill>
              </a:rPr>
              <a:t>QD</a:t>
            </a:r>
            <a:endParaRPr lang="en-US" sz="1200" b="1" dirty="0">
              <a:solidFill>
                <a:schemeClr val="tx1"/>
              </a:solidFill>
            </a:endParaRPr>
          </a:p>
          <a:p>
            <a:endParaRPr lang="en-US" sz="2400" b="1" dirty="0">
              <a:solidFill>
                <a:schemeClr val="tx1"/>
              </a:solidFill>
            </a:endParaRPr>
          </a:p>
          <a:p>
            <a:pPr algn="ctr"/>
            <a:endParaRPr lang="en-US" sz="3200" b="1" dirty="0">
              <a:solidFill>
                <a:schemeClr val="tx1"/>
              </a:solidFill>
            </a:endParaRPr>
          </a:p>
        </p:txBody>
      </p:sp>
      <p:cxnSp>
        <p:nvCxnSpPr>
          <p:cNvPr id="22" name="Ευθεία γραμμή σύνδεσης 21">
            <a:extLst>
              <a:ext uri="{FF2B5EF4-FFF2-40B4-BE49-F238E27FC236}">
                <a16:creationId xmlns:a16="http://schemas.microsoft.com/office/drawing/2014/main" id="{486758C2-8FC5-A674-5920-8A7C044747BD}"/>
              </a:ext>
            </a:extLst>
          </p:cNvPr>
          <p:cNvCxnSpPr>
            <a:cxnSpLocks/>
            <a:stCxn id="10" idx="2"/>
            <a:endCxn id="12" idx="0"/>
          </p:cNvCxnSpPr>
          <p:nvPr/>
        </p:nvCxnSpPr>
        <p:spPr>
          <a:xfrm flipH="1">
            <a:off x="1410652" y="2795451"/>
            <a:ext cx="1" cy="1321829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4" name="Ευθύγραμμο βέλος σύνδεσης 23">
            <a:extLst>
              <a:ext uri="{FF2B5EF4-FFF2-40B4-BE49-F238E27FC236}">
                <a16:creationId xmlns:a16="http://schemas.microsoft.com/office/drawing/2014/main" id="{D6891855-7CF0-EFAA-480A-138E2595613D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1410652" y="3488183"/>
            <a:ext cx="51387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26" name="Ευθύγραμμο βέλος σύνδεσης 25">
            <a:extLst>
              <a:ext uri="{FF2B5EF4-FFF2-40B4-BE49-F238E27FC236}">
                <a16:creationId xmlns:a16="http://schemas.microsoft.com/office/drawing/2014/main" id="{E3563313-ED33-3D06-1916-5FBBA0E27B42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3230811" y="3488183"/>
            <a:ext cx="77513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32" name="Ευθύγραμμο βέλος σύνδεσης 31">
            <a:extLst>
              <a:ext uri="{FF2B5EF4-FFF2-40B4-BE49-F238E27FC236}">
                <a16:creationId xmlns:a16="http://schemas.microsoft.com/office/drawing/2014/main" id="{E2081A86-81FD-F369-C28F-06B0220057E9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5280894" y="3463245"/>
            <a:ext cx="9109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cxnSp>
        <p:nvCxnSpPr>
          <p:cNvPr id="17" name="Ευθύγραμμο βέλος σύνδεσης 16">
            <a:extLst>
              <a:ext uri="{FF2B5EF4-FFF2-40B4-BE49-F238E27FC236}">
                <a16:creationId xmlns:a16="http://schemas.microsoft.com/office/drawing/2014/main" id="{F8114B33-A1DB-F783-9D8A-7D403F9C2F5D}"/>
              </a:ext>
            </a:extLst>
          </p:cNvPr>
          <p:cNvCxnSpPr>
            <a:cxnSpLocks/>
            <a:stCxn id="18" idx="1"/>
            <a:endCxn id="4" idx="3"/>
          </p:cNvCxnSpPr>
          <p:nvPr/>
        </p:nvCxnSpPr>
        <p:spPr>
          <a:xfrm flipH="1">
            <a:off x="10939668" y="3112746"/>
            <a:ext cx="50045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39411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CF674-4B68-CC80-C8CD-C5D1679F0A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0A7EAEEA-4A54-24E4-C97C-A9C56CC213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4EDAD4E0-4A84-F932-A2FE-37062F06C3B8}"/>
              </a:ext>
            </a:extLst>
          </p:cNvPr>
          <p:cNvSpPr/>
          <p:nvPr/>
        </p:nvSpPr>
        <p:spPr>
          <a:xfrm>
            <a:off x="645049" y="544444"/>
            <a:ext cx="9469259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 err="1">
                <a:solidFill>
                  <a:srgbClr val="800020"/>
                </a:solidFill>
              </a:rPr>
              <a:t>Χρονισμός</a:t>
            </a:r>
            <a:r>
              <a:rPr lang="en-US" sz="4000" b="1" dirty="0">
                <a:solidFill>
                  <a:srgbClr val="800020"/>
                </a:solidFill>
              </a:rPr>
              <a:t> &amp; Κα</a:t>
            </a:r>
            <a:r>
              <a:rPr lang="en-US" sz="4000" b="1" dirty="0" err="1">
                <a:solidFill>
                  <a:srgbClr val="800020"/>
                </a:solidFill>
              </a:rPr>
              <a:t>θυστέρηση</a:t>
            </a:r>
            <a:r>
              <a:rPr lang="en-US" sz="4000" b="1" dirty="0">
                <a:solidFill>
                  <a:srgbClr val="800020"/>
                </a:solidFill>
              </a:rPr>
              <a:t> </a:t>
            </a:r>
            <a:r>
              <a:rPr lang="en-US" sz="4000" b="1" dirty="0" err="1">
                <a:solidFill>
                  <a:srgbClr val="800020"/>
                </a:solidFill>
              </a:rPr>
              <a:t>Κυκλώμ</a:t>
            </a:r>
            <a:r>
              <a:rPr lang="en-US" sz="4000" b="1" dirty="0">
                <a:solidFill>
                  <a:srgbClr val="800020"/>
                </a:solidFill>
              </a:rPr>
              <a:t>ατος</a:t>
            </a:r>
            <a:endParaRPr lang="el-GR" sz="40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9A0EAA3A-0CD0-6116-6A2E-A0B66FBBC97D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B1FF1D0-ED02-B799-D33C-6F9FCE5B3ED4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E895CED2-F36C-A6B3-3538-75D7A9516455}"/>
              </a:ext>
            </a:extLst>
          </p:cNvPr>
          <p:cNvCxnSpPr/>
          <p:nvPr/>
        </p:nvCxnSpPr>
        <p:spPr>
          <a:xfrm>
            <a:off x="790575" y="1252330"/>
            <a:ext cx="9925050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Ορθογώνιο: Στρογγύλεμα γωνιών 5">
            <a:extLst>
              <a:ext uri="{FF2B5EF4-FFF2-40B4-BE49-F238E27FC236}">
                <a16:creationId xmlns:a16="http://schemas.microsoft.com/office/drawing/2014/main" id="{F304344C-9A6F-8B73-6A8D-E09303D7A009}"/>
              </a:ext>
            </a:extLst>
          </p:cNvPr>
          <p:cNvSpPr/>
          <p:nvPr/>
        </p:nvSpPr>
        <p:spPr>
          <a:xfrm>
            <a:off x="1400175" y="1752600"/>
            <a:ext cx="4219575" cy="3286124"/>
          </a:xfrm>
          <a:prstGeom prst="roundRect">
            <a:avLst/>
          </a:prstGeom>
          <a:solidFill>
            <a:schemeClr val="bg1"/>
          </a:solidFill>
          <a:ln cmpd="sng"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800020"/>
                </a:solidFill>
              </a:rPr>
              <a:t>Δι</a:t>
            </a:r>
            <a:r>
              <a:rPr lang="en-US" b="1" dirty="0">
                <a:solidFill>
                  <a:srgbClr val="800020"/>
                </a:solidFill>
              </a:rPr>
              <a:t>αδρομή Δεδομένων</a:t>
            </a:r>
          </a:p>
          <a:p>
            <a:endParaRPr lang="en-US" b="1" dirty="0">
              <a:solidFill>
                <a:srgbClr val="800020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Οι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είσοδοι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στ</a:t>
            </a:r>
            <a:r>
              <a:rPr lang="en-US" sz="1400" dirty="0">
                <a:solidFill>
                  <a:schemeClr val="tx1"/>
                </a:solidFill>
              </a:rPr>
              <a:t>αθεροποιούνται στον πρώτο καταχωρητή, τροφοδοτούνται στον CSA αθροιστή και οι έξοδοι αποθηκεύονται στον τελικό καταχωρητή:</a:t>
            </a:r>
          </a:p>
          <a:p>
            <a:r>
              <a:rPr lang="en-US" sz="1400" dirty="0">
                <a:solidFill>
                  <a:schemeClr val="tx1"/>
                </a:solidFill>
              </a:rPr>
              <a:t>Inputs → REG_A/B/CIN → CSA_8bit → REG_SUM/COUT → Outputs</a:t>
            </a: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AF73F5D5-1D7C-A378-7A0E-D00F8ECB2857}"/>
              </a:ext>
            </a:extLst>
          </p:cNvPr>
          <p:cNvSpPr/>
          <p:nvPr/>
        </p:nvSpPr>
        <p:spPr>
          <a:xfrm>
            <a:off x="6572252" y="1752600"/>
            <a:ext cx="4219575" cy="3286124"/>
          </a:xfrm>
          <a:prstGeom prst="roundRect">
            <a:avLst/>
          </a:prstGeom>
          <a:solidFill>
            <a:schemeClr val="bg1"/>
          </a:solidFill>
          <a:ln cmpd="sng"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800020"/>
                </a:solidFill>
              </a:rPr>
              <a:t>Κα</a:t>
            </a:r>
            <a:r>
              <a:rPr lang="en-US" b="1" dirty="0" err="1">
                <a:solidFill>
                  <a:srgbClr val="800020"/>
                </a:solidFill>
              </a:rPr>
              <a:t>θυστέρηση</a:t>
            </a:r>
            <a:r>
              <a:rPr lang="en-US" b="1" dirty="0">
                <a:solidFill>
                  <a:srgbClr val="800020"/>
                </a:solidFill>
              </a:rPr>
              <a:t> (Latency)</a:t>
            </a:r>
          </a:p>
          <a:p>
            <a:endParaRPr lang="en-US" b="1" dirty="0">
              <a:solidFill>
                <a:srgbClr val="800020"/>
              </a:solidFill>
            </a:endParaRPr>
          </a:p>
          <a:p>
            <a:r>
              <a:rPr lang="en-US" sz="1400" dirty="0">
                <a:solidFill>
                  <a:schemeClr val="tx1"/>
                </a:solidFill>
              </a:rPr>
              <a:t>Η α</a:t>
            </a:r>
            <a:r>
              <a:rPr lang="en-US" sz="1400" dirty="0" err="1">
                <a:solidFill>
                  <a:schemeClr val="tx1"/>
                </a:solidFill>
              </a:rPr>
              <a:t>ρχιτεκτονική</a:t>
            </a:r>
            <a:r>
              <a:rPr lang="en-US" sz="1400" dirty="0">
                <a:solidFill>
                  <a:schemeClr val="tx1"/>
                </a:solidFill>
              </a:rPr>
              <a:t> απα</a:t>
            </a:r>
            <a:r>
              <a:rPr lang="en-US" sz="1400" dirty="0" err="1">
                <a:solidFill>
                  <a:schemeClr val="tx1"/>
                </a:solidFill>
              </a:rPr>
              <a:t>ιτεί</a:t>
            </a:r>
            <a:r>
              <a:rPr lang="en-US" sz="1400" dirty="0">
                <a:solidFill>
                  <a:schemeClr val="tx1"/>
                </a:solidFill>
              </a:rPr>
              <a:t> α</a:t>
            </a:r>
            <a:r>
              <a:rPr lang="en-US" sz="1400" dirty="0" err="1">
                <a:solidFill>
                  <a:schemeClr val="tx1"/>
                </a:solidFill>
              </a:rPr>
              <a:t>κρι</a:t>
            </a:r>
            <a:r>
              <a:rPr lang="en-US" sz="1400" dirty="0">
                <a:solidFill>
                  <a:schemeClr val="tx1"/>
                </a:solidFill>
              </a:rPr>
              <a:t>βώς </a:t>
            </a:r>
            <a:r>
              <a:rPr lang="en-US" sz="1400" b="1" dirty="0">
                <a:solidFill>
                  <a:schemeClr val="tx1"/>
                </a:solidFill>
              </a:rPr>
              <a:t>2 κύκλους ρολογιού</a:t>
            </a:r>
            <a:r>
              <a:rPr lang="en-US" sz="1400" dirty="0">
                <a:solidFill>
                  <a:schemeClr val="tx1"/>
                </a:solidFill>
              </a:rPr>
              <a:t> (latency = 2) για την παραγωγή του αποτελέσματος.</a:t>
            </a:r>
          </a:p>
          <a:p>
            <a:r>
              <a:rPr lang="en-US" sz="1400" dirty="0">
                <a:solidFill>
                  <a:schemeClr val="tx1"/>
                </a:solidFill>
              </a:rPr>
              <a:t>Κα</a:t>
            </a:r>
            <a:r>
              <a:rPr lang="en-US" sz="1400" dirty="0" err="1">
                <a:solidFill>
                  <a:schemeClr val="tx1"/>
                </a:solidFill>
              </a:rPr>
              <a:t>τά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τον</a:t>
            </a:r>
            <a:r>
              <a:rPr lang="en-US" sz="1400" dirty="0">
                <a:solidFill>
                  <a:schemeClr val="tx1"/>
                </a:solidFill>
              </a:rPr>
              <a:t> </a:t>
            </a:r>
            <a:r>
              <a:rPr lang="en-US" sz="1400" b="1" dirty="0">
                <a:solidFill>
                  <a:schemeClr val="tx1"/>
                </a:solidFill>
              </a:rPr>
              <a:t>1ο </a:t>
            </a:r>
            <a:r>
              <a:rPr lang="en-US" sz="1400" b="1" dirty="0" err="1">
                <a:solidFill>
                  <a:schemeClr val="tx1"/>
                </a:solidFill>
              </a:rPr>
              <a:t>κύκλο</a:t>
            </a:r>
            <a:r>
              <a:rPr lang="en-US" sz="1400" dirty="0">
                <a:solidFill>
                  <a:schemeClr val="tx1"/>
                </a:solidFill>
              </a:rPr>
              <a:t> απ</a:t>
            </a:r>
            <a:r>
              <a:rPr lang="en-US" sz="1400" dirty="0" err="1">
                <a:solidFill>
                  <a:schemeClr val="tx1"/>
                </a:solidFill>
              </a:rPr>
              <a:t>οθηκεύοντ</a:t>
            </a:r>
            <a:r>
              <a:rPr lang="en-US" sz="1400" dirty="0">
                <a:solidFill>
                  <a:schemeClr val="tx1"/>
                </a:solidFill>
              </a:rPr>
              <a:t>αι οι είσοδοι, ενώ κατά τον </a:t>
            </a:r>
            <a:r>
              <a:rPr lang="en-US" sz="1400" b="1" dirty="0">
                <a:solidFill>
                  <a:schemeClr val="tx1"/>
                </a:solidFill>
              </a:rPr>
              <a:t>2ο κύκλο</a:t>
            </a:r>
            <a:r>
              <a:rPr lang="en-US" sz="1400" dirty="0">
                <a:solidFill>
                  <a:schemeClr val="tx1"/>
                </a:solidFill>
              </a:rPr>
              <a:t> το τελικό άθροισμα εμφανίζεται σταθερό στην έξοδο.</a:t>
            </a:r>
          </a:p>
        </p:txBody>
      </p:sp>
    </p:spTree>
    <p:extLst>
      <p:ext uri="{BB962C8B-B14F-4D97-AF65-F5344CB8AC3E}">
        <p14:creationId xmlns:p14="http://schemas.microsoft.com/office/powerpoint/2010/main" val="33100337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9FFEF5-563B-5BAB-A5A5-435158CDE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20969296-61A7-83D7-825A-82437A5EF1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EEDFD6FA-0198-9A7D-9548-D1CE1D672E24}"/>
              </a:ext>
            </a:extLst>
          </p:cNvPr>
          <p:cNvSpPr/>
          <p:nvPr/>
        </p:nvSpPr>
        <p:spPr>
          <a:xfrm>
            <a:off x="645049" y="166317"/>
            <a:ext cx="9708626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RTL </a:t>
            </a:r>
            <a:r>
              <a:rPr lang="en-US" sz="5400" b="1" dirty="0" err="1">
                <a:solidFill>
                  <a:srgbClr val="800020"/>
                </a:solidFill>
              </a:rPr>
              <a:t>Προσομοίωση</a:t>
            </a:r>
            <a:r>
              <a:rPr lang="en-US" sz="5400" b="1" dirty="0">
                <a:solidFill>
                  <a:srgbClr val="800020"/>
                </a:solidFill>
              </a:rPr>
              <a:t> (ModelSim)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8CDB643D-C9D6-B386-A295-171BF39D59F4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1E259CC-AC91-5F09-3727-69B712FFF91C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8A9E34AF-B69C-CB01-483F-5A609D9E1590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947D366-5632-F8F6-2E99-F90CFF273160}"/>
              </a:ext>
            </a:extLst>
          </p:cNvPr>
          <p:cNvSpPr txBox="1"/>
          <p:nvPr/>
        </p:nvSpPr>
        <p:spPr>
          <a:xfrm>
            <a:off x="2675199" y="1593473"/>
            <a:ext cx="6096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900"/>
              </a:spcAft>
              <a:buNone/>
            </a:pPr>
            <a:r>
              <a:rPr lang="en-US" sz="2400" b="1" i="0" dirty="0">
                <a:solidFill>
                  <a:srgbClr val="800020"/>
                </a:solidFill>
                <a:effectLst/>
              </a:rPr>
              <a:t>Επα</a:t>
            </a:r>
            <a:r>
              <a:rPr lang="en-US" sz="2400" b="1" i="0" dirty="0" err="1">
                <a:solidFill>
                  <a:srgbClr val="800020"/>
                </a:solidFill>
                <a:effectLst/>
              </a:rPr>
              <a:t>λήθευση</a:t>
            </a:r>
            <a:r>
              <a:rPr lang="en-US" sz="2400" b="1" i="0" dirty="0">
                <a:solidFill>
                  <a:srgbClr val="800020"/>
                </a:solidFill>
                <a:effectLst/>
              </a:rPr>
              <a:t> </a:t>
            </a:r>
            <a:r>
              <a:rPr lang="en-US" sz="2400" b="1" i="0" dirty="0" err="1">
                <a:solidFill>
                  <a:srgbClr val="800020"/>
                </a:solidFill>
                <a:effectLst/>
              </a:rPr>
              <a:t>Λογικής</a:t>
            </a:r>
            <a:endParaRPr lang="en-US" sz="2400" b="1" i="0" dirty="0">
              <a:solidFill>
                <a:srgbClr val="800020"/>
              </a:solidFill>
              <a:effectLst/>
            </a:endParaRP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600" b="0" i="0" dirty="0">
                <a:solidFill>
                  <a:srgbClr val="1E293B"/>
                </a:solidFill>
                <a:effectLst/>
              </a:rPr>
              <a:t>Η π</a:t>
            </a:r>
            <a:r>
              <a:rPr lang="en-US" sz="1600" b="0" i="0" dirty="0" err="1">
                <a:solidFill>
                  <a:srgbClr val="1E293B"/>
                </a:solidFill>
                <a:effectLst/>
              </a:rPr>
              <a:t>ροσομοίωση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1E293B"/>
                </a:solidFill>
                <a:effectLst/>
              </a:rPr>
              <a:t>σε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 επίπ</a:t>
            </a:r>
            <a:r>
              <a:rPr lang="en-US" sz="1600" b="0" i="0" dirty="0" err="1">
                <a:solidFill>
                  <a:srgbClr val="1E293B"/>
                </a:solidFill>
                <a:effectLst/>
              </a:rPr>
              <a:t>εδο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 RTL επιβεβα</a:t>
            </a:r>
            <a:r>
              <a:rPr lang="en-US" sz="1600" b="0" i="0" dirty="0" err="1">
                <a:solidFill>
                  <a:srgbClr val="1E293B"/>
                </a:solidFill>
                <a:effectLst/>
              </a:rPr>
              <a:t>ίωσε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1E293B"/>
                </a:solidFill>
                <a:effectLst/>
              </a:rPr>
              <a:t>την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1E293B"/>
                </a:solidFill>
                <a:effectLst/>
              </a:rPr>
              <a:t>ορθότητ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α της structural VHDL σχεδίασης.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600" b="0" i="0" dirty="0" err="1">
                <a:solidFill>
                  <a:srgbClr val="1E293B"/>
                </a:solidFill>
                <a:effectLst/>
              </a:rPr>
              <a:t>Δοκιμάστηκ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αν ακραίοι συνδυασμοί εισόδων με χρήση Testbench:</a:t>
            </a:r>
          </a:p>
          <a:p>
            <a:pPr>
              <a:spcAft>
                <a:spcPts val="900"/>
              </a:spcAft>
            </a:pPr>
            <a:r>
              <a:rPr lang="en-US" sz="1400" b="0" i="0" dirty="0">
                <a:solidFill>
                  <a:srgbClr val="1E293B"/>
                </a:solidFill>
                <a:effectLst/>
              </a:rPr>
              <a:t>A = 10111011</a:t>
            </a:r>
            <a:r>
              <a:rPr lang="el-GR" sz="1400" b="0" i="0" dirty="0">
                <a:solidFill>
                  <a:srgbClr val="1E293B"/>
                </a:solidFill>
                <a:effectLst/>
              </a:rPr>
              <a:t> (187</a:t>
            </a:r>
            <a:r>
              <a:rPr lang="el-GR" sz="600" b="0" i="0" dirty="0">
                <a:solidFill>
                  <a:srgbClr val="1E293B"/>
                </a:solidFill>
                <a:effectLst/>
              </a:rPr>
              <a:t>10</a:t>
            </a:r>
            <a:r>
              <a:rPr lang="el-GR" sz="1400" dirty="0">
                <a:solidFill>
                  <a:srgbClr val="1E293B"/>
                </a:solidFill>
              </a:rPr>
              <a:t>)</a:t>
            </a:r>
            <a:br>
              <a:rPr lang="en-US" sz="1400" b="0" i="0" dirty="0">
                <a:solidFill>
                  <a:srgbClr val="1E293B"/>
                </a:solidFill>
                <a:effectLst/>
              </a:rPr>
            </a:br>
            <a:r>
              <a:rPr lang="en-US" sz="1400" b="0" i="0" dirty="0">
                <a:solidFill>
                  <a:srgbClr val="1E293B"/>
                </a:solidFill>
                <a:effectLst/>
              </a:rPr>
              <a:t>B = 01110010</a:t>
            </a:r>
            <a:r>
              <a:rPr lang="el-GR" sz="1400" dirty="0">
                <a:solidFill>
                  <a:srgbClr val="1E293B"/>
                </a:solidFill>
              </a:rPr>
              <a:t> (114</a:t>
            </a:r>
            <a:r>
              <a:rPr lang="el-GR" sz="600" dirty="0">
                <a:solidFill>
                  <a:srgbClr val="1E293B"/>
                </a:solidFill>
              </a:rPr>
              <a:t>10</a:t>
            </a:r>
            <a:r>
              <a:rPr lang="el-GR" sz="1400" dirty="0">
                <a:solidFill>
                  <a:srgbClr val="1E293B"/>
                </a:solidFill>
              </a:rPr>
              <a:t>)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, Cin = 0</a:t>
            </a:r>
            <a:br>
              <a:rPr lang="en-US" sz="1400" b="0" i="0" dirty="0">
                <a:solidFill>
                  <a:srgbClr val="1E293B"/>
                </a:solidFill>
                <a:effectLst/>
              </a:rPr>
            </a:br>
            <a:r>
              <a:rPr lang="en-US" sz="1400" b="0" i="0" dirty="0" err="1">
                <a:solidFill>
                  <a:srgbClr val="1E293B"/>
                </a:solidFill>
                <a:effectLst/>
              </a:rPr>
              <a:t>S_out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 = 00101101</a:t>
            </a:r>
            <a:r>
              <a:rPr lang="el-GR" sz="1400" dirty="0">
                <a:solidFill>
                  <a:srgbClr val="1E293B"/>
                </a:solidFill>
              </a:rPr>
              <a:t> (45</a:t>
            </a:r>
            <a:r>
              <a:rPr lang="el-GR" sz="600" dirty="0">
                <a:solidFill>
                  <a:srgbClr val="1E293B"/>
                </a:solidFill>
              </a:rPr>
              <a:t>10</a:t>
            </a:r>
            <a:r>
              <a:rPr lang="el-GR" sz="1400" dirty="0">
                <a:solidFill>
                  <a:srgbClr val="1E293B"/>
                </a:solidFill>
              </a:rPr>
              <a:t>)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, Cout = 1</a:t>
            </a:r>
          </a:p>
          <a:p>
            <a:pPr marL="0" marR="0" indent="0" algn="l">
              <a:spcAft>
                <a:spcPts val="900"/>
              </a:spcAft>
              <a:buNone/>
            </a:pPr>
            <a:r>
              <a:rPr lang="en-US" sz="1600" b="0" i="0" dirty="0" err="1">
                <a:solidFill>
                  <a:srgbClr val="1E293B"/>
                </a:solidFill>
                <a:effectLst/>
              </a:rPr>
              <a:t>Το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 </a:t>
            </a:r>
            <a:r>
              <a:rPr lang="en-US" sz="1600" b="0" i="0" dirty="0" err="1">
                <a:solidFill>
                  <a:srgbClr val="1E293B"/>
                </a:solidFill>
                <a:effectLst/>
              </a:rPr>
              <a:t>σήμ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α εξόδου εμφανίζεται σωστό ακριβώς μετά από </a:t>
            </a:r>
            <a:r>
              <a:rPr lang="en-US" sz="1600" b="1" i="0" dirty="0">
                <a:solidFill>
                  <a:srgbClr val="1E293B"/>
                </a:solidFill>
                <a:effectLst/>
              </a:rPr>
              <a:t>δύο θετικές ακμές</a:t>
            </a:r>
            <a:r>
              <a:rPr lang="en-US" sz="1600" b="0" i="0" dirty="0">
                <a:solidFill>
                  <a:srgbClr val="1E293B"/>
                </a:solidFill>
                <a:effectLst/>
              </a:rPr>
              <a:t> του ρολογιού.</a:t>
            </a:r>
          </a:p>
        </p:txBody>
      </p:sp>
      <p:pic>
        <p:nvPicPr>
          <p:cNvPr id="11" name="Picture 3">
            <a:extLst>
              <a:ext uri="{FF2B5EF4-FFF2-40B4-BE49-F238E27FC236}">
                <a16:creationId xmlns:a16="http://schemas.microsoft.com/office/drawing/2014/main" id="{874905DB-A846-0875-9775-A2BF9F5F70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680" y="4512314"/>
            <a:ext cx="10039037" cy="146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61504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D33765-339E-0666-E454-FB3EA7193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543047AB-52BD-52B6-AA6B-877F2261B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D1A317D9-C9E2-9685-613E-A315279F8AC1}"/>
              </a:ext>
            </a:extLst>
          </p:cNvPr>
          <p:cNvSpPr/>
          <p:nvPr/>
        </p:nvSpPr>
        <p:spPr>
          <a:xfrm>
            <a:off x="422694" y="275070"/>
            <a:ext cx="555738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GENUS </a:t>
            </a:r>
            <a:r>
              <a:rPr lang="el-GR" sz="5400" b="1" dirty="0">
                <a:solidFill>
                  <a:srgbClr val="800020"/>
                </a:solidFill>
              </a:rPr>
              <a:t>για 45</a:t>
            </a:r>
            <a:r>
              <a:rPr lang="en-US" sz="5400" b="1" dirty="0">
                <a:solidFill>
                  <a:srgbClr val="800020"/>
                </a:solidFill>
              </a:rPr>
              <a:t>nm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CCE6C35-E215-BBBE-C9A0-AC5B6E063F6D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EEFFB93-B0FB-DF26-957C-682248744A85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35008409-C4D0-1EAC-DD58-445D6D091EAD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4" name="Picture 4">
            <a:extLst>
              <a:ext uri="{FF2B5EF4-FFF2-40B4-BE49-F238E27FC236}">
                <a16:creationId xmlns:a16="http://schemas.microsoft.com/office/drawing/2014/main" id="{DAA9C383-CF38-AF4F-6B56-567F3BB48D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9355" y="1854681"/>
            <a:ext cx="6921456" cy="2993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90755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2171DC-6175-B474-249C-0A1751EB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3736ADF2-8F43-7DEB-A1B9-56EEF79B4A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79604D4C-3F71-5090-5D6C-EC3BD5E5C069}"/>
              </a:ext>
            </a:extLst>
          </p:cNvPr>
          <p:cNvSpPr/>
          <p:nvPr/>
        </p:nvSpPr>
        <p:spPr>
          <a:xfrm>
            <a:off x="422694" y="275070"/>
            <a:ext cx="555738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GENUS </a:t>
            </a:r>
            <a:r>
              <a:rPr lang="el-GR" sz="5400" b="1" dirty="0">
                <a:solidFill>
                  <a:srgbClr val="800020"/>
                </a:solidFill>
              </a:rPr>
              <a:t>για </a:t>
            </a:r>
            <a:r>
              <a:rPr lang="en-US" sz="5400" b="1" dirty="0">
                <a:solidFill>
                  <a:srgbClr val="800020"/>
                </a:solidFill>
              </a:rPr>
              <a:t>7nm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EF7CAA41-9DA8-DE04-0EBF-3A8E51F44B1C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AE1E846-89E0-F809-943E-8E6B0ACF4DBC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DEB2EEA1-496E-974B-E3C4-ED2C3419C0CA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4" name="Picture 7">
            <a:extLst>
              <a:ext uri="{FF2B5EF4-FFF2-40B4-BE49-F238E27FC236}">
                <a16:creationId xmlns:a16="http://schemas.microsoft.com/office/drawing/2014/main" id="{ABD56187-C415-728A-E093-B767908AFC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723" y="2261552"/>
            <a:ext cx="5760720" cy="2334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0894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A23D5B-1907-9F4B-F51D-240A0E2D5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87663301-5C67-526B-6682-5F352A3241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E191D1C8-0C86-5C57-DC84-119E12345CDF}"/>
              </a:ext>
            </a:extLst>
          </p:cNvPr>
          <p:cNvSpPr/>
          <p:nvPr/>
        </p:nvSpPr>
        <p:spPr>
          <a:xfrm>
            <a:off x="422694" y="275070"/>
            <a:ext cx="555738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GENUS </a:t>
            </a:r>
            <a:r>
              <a:rPr lang="el-GR" sz="5400" b="1" dirty="0">
                <a:solidFill>
                  <a:srgbClr val="800020"/>
                </a:solidFill>
              </a:rPr>
              <a:t>για 45</a:t>
            </a:r>
            <a:r>
              <a:rPr lang="en-US" sz="5400" b="1" dirty="0">
                <a:solidFill>
                  <a:srgbClr val="800020"/>
                </a:solidFill>
              </a:rPr>
              <a:t>nm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854977AA-B843-8D55-2669-97EAE4ECFB38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E5E837F-2852-6BBF-8BB3-14962346F3DD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76A9C762-5922-29EF-955A-9A048793E15B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341E5D92-5479-7E0B-1562-E0AD30503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723" y="2072005"/>
            <a:ext cx="5760720" cy="2713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0941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C68A21-2713-CFF7-CFD9-0A2EE49CB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DBA3A145-611F-CB0A-3BE6-FBD4F42AC6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208D75F1-AA4B-B6DD-34C1-213FAB3EEB70}"/>
              </a:ext>
            </a:extLst>
          </p:cNvPr>
          <p:cNvSpPr/>
          <p:nvPr/>
        </p:nvSpPr>
        <p:spPr>
          <a:xfrm>
            <a:off x="422694" y="275070"/>
            <a:ext cx="555738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GENUS </a:t>
            </a:r>
            <a:r>
              <a:rPr lang="el-GR" sz="5400" b="1" dirty="0">
                <a:solidFill>
                  <a:srgbClr val="800020"/>
                </a:solidFill>
              </a:rPr>
              <a:t>για </a:t>
            </a:r>
            <a:r>
              <a:rPr lang="en-US" sz="5400" b="1" dirty="0">
                <a:solidFill>
                  <a:srgbClr val="800020"/>
                </a:solidFill>
              </a:rPr>
              <a:t>7nm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339E76BC-A1DC-731E-F1BA-C2C478A97B9A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84D26DE-F7EE-5C78-B068-A5037EF664C0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FA72F2CF-F66C-707F-6170-8080F088528F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" name="Picture 8">
            <a:extLst>
              <a:ext uri="{FF2B5EF4-FFF2-40B4-BE49-F238E27FC236}">
                <a16:creationId xmlns:a16="http://schemas.microsoft.com/office/drawing/2014/main" id="{8EDF20FD-3167-2C51-4541-C9025B2A98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723" y="2160587"/>
            <a:ext cx="5760720" cy="2536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216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C34F59-66DA-7875-3882-D3F0D95D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CF9E98C7-14A0-21C0-3878-DE7F009A2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C8ED6403-49CC-4522-3881-3E2B01FD268D}"/>
              </a:ext>
            </a:extLst>
          </p:cNvPr>
          <p:cNvSpPr/>
          <p:nvPr/>
        </p:nvSpPr>
        <p:spPr>
          <a:xfrm>
            <a:off x="422694" y="275070"/>
            <a:ext cx="555738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GENUS </a:t>
            </a:r>
            <a:r>
              <a:rPr lang="el-GR" sz="5400" b="1" dirty="0">
                <a:solidFill>
                  <a:srgbClr val="800020"/>
                </a:solidFill>
              </a:rPr>
              <a:t>για 45</a:t>
            </a:r>
            <a:r>
              <a:rPr lang="en-US" sz="5400" b="1" dirty="0">
                <a:solidFill>
                  <a:srgbClr val="800020"/>
                </a:solidFill>
              </a:rPr>
              <a:t>nm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30FD53D0-14A3-2AA8-48B6-7C3D25538C0D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34269D-E147-727F-32B1-39FC6BCECB47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40059626-2E90-1988-F22F-2525964010EF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4" name="Picture 6">
            <a:extLst>
              <a:ext uri="{FF2B5EF4-FFF2-40B4-BE49-F238E27FC236}">
                <a16:creationId xmlns:a16="http://schemas.microsoft.com/office/drawing/2014/main" id="{54DA56E3-DE01-A9D2-0D79-0488A8CF1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5639" y="1425864"/>
            <a:ext cx="5760720" cy="4359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2101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6A40F-2AA8-AA8A-21A2-607CFCB7A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F1598461-63DB-753B-79AC-39885F132D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39AAD8B8-0730-0A7A-E949-3E39485B2A67}"/>
              </a:ext>
            </a:extLst>
          </p:cNvPr>
          <p:cNvSpPr/>
          <p:nvPr/>
        </p:nvSpPr>
        <p:spPr>
          <a:xfrm>
            <a:off x="422694" y="275070"/>
            <a:ext cx="555738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GENUS </a:t>
            </a:r>
            <a:r>
              <a:rPr lang="el-GR" sz="5400" b="1" dirty="0">
                <a:solidFill>
                  <a:srgbClr val="800020"/>
                </a:solidFill>
              </a:rPr>
              <a:t>για </a:t>
            </a:r>
            <a:r>
              <a:rPr lang="en-US" sz="5400" b="1" dirty="0">
                <a:solidFill>
                  <a:srgbClr val="800020"/>
                </a:solidFill>
              </a:rPr>
              <a:t>7nm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15B426D-B07C-F0B3-1D3A-7306933F9CED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0C0C663-30B2-A5CC-1E47-82FD64615F52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8681BB67-E161-9D5C-0A2A-E05A7C93F391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4" name="Picture 9">
            <a:extLst>
              <a:ext uri="{FF2B5EF4-FFF2-40B4-BE49-F238E27FC236}">
                <a16:creationId xmlns:a16="http://schemas.microsoft.com/office/drawing/2014/main" id="{4DDA8781-8A23-9100-7C46-D28F8BD551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9723" y="1463469"/>
            <a:ext cx="5760720" cy="4474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7471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CA84802-68AD-F807-B5E5-950A371E4B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9C424566-8819-85EF-5E4B-380E171E27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0FD45C39-77E7-B586-BEC9-2DE8DCB013FD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9438992-B275-74AE-EC7A-843F3AD8B092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FD8CE24B-D142-3528-6B3D-EA5388AE0FFA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A70E581-EB8C-4031-F84F-7381FD9C0421}"/>
              </a:ext>
            </a:extLst>
          </p:cNvPr>
          <p:cNvSpPr txBox="1"/>
          <p:nvPr/>
        </p:nvSpPr>
        <p:spPr>
          <a:xfrm>
            <a:off x="645049" y="482889"/>
            <a:ext cx="8241776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US" sz="4400" b="1" i="0" spc="-38" dirty="0" err="1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Σύνθεση</a:t>
            </a:r>
            <a:r>
              <a:rPr lang="en-US" sz="4400" b="1" i="0" spc="-38" dirty="0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 (45nm vs 7nm)</a:t>
            </a:r>
          </a:p>
        </p:txBody>
      </p:sp>
      <p:graphicFrame>
        <p:nvGraphicFramePr>
          <p:cNvPr id="8" name="Πίνακας 7">
            <a:extLst>
              <a:ext uri="{FF2B5EF4-FFF2-40B4-BE49-F238E27FC236}">
                <a16:creationId xmlns:a16="http://schemas.microsoft.com/office/drawing/2014/main" id="{3B343623-4A08-1BFE-901E-0C504188F1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846458"/>
              </p:ext>
            </p:extLst>
          </p:nvPr>
        </p:nvGraphicFramePr>
        <p:xfrm>
          <a:off x="645049" y="2082055"/>
          <a:ext cx="10515600" cy="3023676"/>
        </p:xfrm>
        <a:graphic>
          <a:graphicData uri="http://schemas.openxmlformats.org/drawingml/2006/table">
            <a:tbl>
              <a:tblPr>
                <a:effectLst>
                  <a:reflection blurRad="63500" stA="45000" endPos="65000" dist="50800" dir="5400000" sy="-100000" algn="bl" rotWithShape="0"/>
                </a:effectLst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0225079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72553957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1904665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59563797"/>
                    </a:ext>
                  </a:extLst>
                </a:gridCol>
              </a:tblGrid>
              <a:tr h="4976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cap="all" spc="38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Πα</a:t>
                      </a:r>
                      <a:r>
                        <a:rPr lang="en-US" sz="1400" b="1" i="0" cap="all" spc="38" dirty="0" err="1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ράμετρος</a:t>
                      </a:r>
                      <a:r>
                        <a:rPr lang="en-US" sz="1400" b="1" i="0" cap="all" spc="38" dirty="0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 (Genus)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cap="all" spc="38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Τεχνολογία 45 nm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cap="all" spc="38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Τεχνολογία 7 nm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 cap="all" spc="38">
                          <a:solidFill>
                            <a:srgbClr val="FFFFFF"/>
                          </a:solidFill>
                          <a:effectLst/>
                          <a:latin typeface="+mn-lt"/>
                        </a:rPr>
                        <a:t>Μεταβολή (%)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30038"/>
                  </a:ext>
                </a:extLst>
              </a:tr>
              <a:tr h="4976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Standard Cells (Cell Count)</a:t>
                      </a:r>
                      <a:endParaRPr lang="en-US" sz="1400" b="0" i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68 cells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82 cells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+ 20.5% (καλύτερο PDP)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19702"/>
                  </a:ext>
                </a:extLst>
              </a:tr>
              <a:tr h="4976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Συνολικό Εμβαδόν (Area)</a:t>
                      </a:r>
                      <a:endParaRPr lang="en-US" sz="1400" b="0" i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235.980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14.186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>
                          <a:solidFill>
                            <a:srgbClr val="22C55E"/>
                          </a:solidFill>
                          <a:effectLst/>
                          <a:latin typeface="+mn-lt"/>
                        </a:rPr>
                        <a:t>- 94.0% (Δραματική μείωση)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20748782"/>
                  </a:ext>
                </a:extLst>
              </a:tr>
              <a:tr h="4976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Κατανάλωση Ισχύος (Power)</a:t>
                      </a:r>
                      <a:endParaRPr lang="en-US" sz="1400" b="0" i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252.34 μW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38.15 μW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>
                          <a:solidFill>
                            <a:srgbClr val="22C55E"/>
                          </a:solidFill>
                          <a:effectLst/>
                          <a:latin typeface="+mn-lt"/>
                        </a:rPr>
                        <a:t>- 85.0% (Εξοικονόμηση)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5705931"/>
                  </a:ext>
                </a:extLst>
              </a:tr>
              <a:tr h="4976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Καθυστέρηση Data Path</a:t>
                      </a:r>
                      <a:endParaRPr lang="en-US" sz="1400" b="0" i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1377 ps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403 ps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>
                          <a:solidFill>
                            <a:srgbClr val="22C55E"/>
                          </a:solidFill>
                          <a:effectLst/>
                          <a:latin typeface="+mn-lt"/>
                        </a:rPr>
                        <a:t>- 70.7% (Υψηλή ταχύτητα)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9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081242"/>
                  </a:ext>
                </a:extLst>
              </a:tr>
              <a:tr h="49762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1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Timing Slack (@1.5 ns)</a:t>
                      </a:r>
                      <a:endParaRPr lang="en-US" sz="1400" b="0" i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+ 9 ps (Οριακό)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+ 1070 ps (Άνετο)</a:t>
                      </a: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400" b="0" i="0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+ 1061 </a:t>
                      </a:r>
                      <a:r>
                        <a:rPr lang="en-US" sz="1400" b="0" i="0" dirty="0" err="1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ps</a:t>
                      </a:r>
                      <a:r>
                        <a:rPr lang="en-US" sz="1400" b="0" i="0" dirty="0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 π</a:t>
                      </a:r>
                      <a:r>
                        <a:rPr lang="en-US" sz="1400" b="0" i="0" dirty="0" err="1">
                          <a:solidFill>
                            <a:srgbClr val="1E293B"/>
                          </a:solidFill>
                          <a:effectLst/>
                          <a:latin typeface="+mn-lt"/>
                        </a:rPr>
                        <a:t>εριθώριο</a:t>
                      </a:r>
                      <a:endParaRPr lang="en-US" sz="1400" b="0" i="0" dirty="0">
                        <a:solidFill>
                          <a:srgbClr val="1E293B"/>
                        </a:solidFill>
                        <a:effectLst/>
                        <a:latin typeface="+mn-lt"/>
                      </a:endParaRPr>
                    </a:p>
                  </a:txBody>
                  <a:tcPr marL="181617" marR="181617" marT="145293" marB="145293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1850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18471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594712-A560-6EE2-AB58-6BB2BDC592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FF09E1F2-BD3F-2348-3221-68A90158F6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8BE457FC-FA1F-4886-FA18-36CD74C8FFE5}"/>
              </a:ext>
            </a:extLst>
          </p:cNvPr>
          <p:cNvSpPr/>
          <p:nvPr/>
        </p:nvSpPr>
        <p:spPr>
          <a:xfrm>
            <a:off x="422694" y="275070"/>
            <a:ext cx="555738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GENUS </a:t>
            </a:r>
            <a:r>
              <a:rPr lang="el-GR" sz="5400" b="1" dirty="0">
                <a:solidFill>
                  <a:srgbClr val="800020"/>
                </a:solidFill>
              </a:rPr>
              <a:t>για 45</a:t>
            </a:r>
            <a:r>
              <a:rPr lang="en-US" sz="5400" b="1" dirty="0">
                <a:solidFill>
                  <a:srgbClr val="800020"/>
                </a:solidFill>
              </a:rPr>
              <a:t>nm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24E6D02C-D1E9-4AA4-A2D1-FF86D00282A6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BE6E2F0-C812-DAF7-3FF6-9925FC64B301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97A82A91-8850-AB72-3977-C86B381C67BE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BC2CAD30-9CE4-2A0A-A1CD-CED1F300C7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3800" y="1423401"/>
            <a:ext cx="4338797" cy="455434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35653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DD7C9E-3EA7-0ADD-565C-1E91A3A02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DBCE3171-5EC9-C192-CD45-6473AB4634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sp>
        <p:nvSpPr>
          <p:cNvPr id="9" name="Ορθογώνιο 8">
            <a:extLst>
              <a:ext uri="{FF2B5EF4-FFF2-40B4-BE49-F238E27FC236}">
                <a16:creationId xmlns:a16="http://schemas.microsoft.com/office/drawing/2014/main" id="{BC321DE7-9F9C-D300-AADA-2745C0AA9D1C}"/>
              </a:ext>
            </a:extLst>
          </p:cNvPr>
          <p:cNvSpPr/>
          <p:nvPr/>
        </p:nvSpPr>
        <p:spPr>
          <a:xfrm>
            <a:off x="422694" y="275070"/>
            <a:ext cx="5557389" cy="240065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dirty="0">
                <a:solidFill>
                  <a:srgbClr val="800020"/>
                </a:solidFill>
              </a:rPr>
              <a:t>GENUS </a:t>
            </a:r>
            <a:r>
              <a:rPr lang="el-GR" sz="5400" b="1" dirty="0">
                <a:solidFill>
                  <a:srgbClr val="800020"/>
                </a:solidFill>
              </a:rPr>
              <a:t>για </a:t>
            </a:r>
            <a:r>
              <a:rPr lang="en-US" sz="5400" b="1" dirty="0">
                <a:solidFill>
                  <a:srgbClr val="800020"/>
                </a:solidFill>
              </a:rPr>
              <a:t>7nm</a:t>
            </a:r>
          </a:p>
          <a:p>
            <a:pPr algn="ctr"/>
            <a:endParaRPr lang="el-GR" sz="9600" b="1" dirty="0">
              <a:ln w="0"/>
              <a:solidFill>
                <a:srgbClr val="80002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+mj-lt"/>
              <a:cs typeface="Times New Roman" panose="02020603050405020304" pitchFamily="18" charset="0"/>
            </a:endParaRPr>
          </a:p>
        </p:txBody>
      </p:sp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A25C19CD-9061-5293-F181-07EDDE1615AC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41FF35C-84D4-042D-3FA7-95559BC54B90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5D441126-F4B8-F35C-0E75-76BC3FB5DA97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16F08EF6-EE7D-E92B-6AA1-555B378D34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0562" y="1782395"/>
            <a:ext cx="6279042" cy="39445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276278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3FE4285-AE35-3AAF-1F01-B9DFA5CD4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A181E18F-3811-644D-4284-2899731B85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83241849-2E55-E92A-7F76-9650CBECFE7E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21B288C-5DFB-A9EE-5793-F7095F6BF13D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EBD59980-57B4-6471-48B8-CF963046A4D5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9869123-B459-0C21-94DF-4E143AAFE301}"/>
              </a:ext>
            </a:extLst>
          </p:cNvPr>
          <p:cNvSpPr txBox="1"/>
          <p:nvPr/>
        </p:nvSpPr>
        <p:spPr>
          <a:xfrm>
            <a:off x="645049" y="457887"/>
            <a:ext cx="8241776" cy="2418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lang="en-US" sz="4400" b="1" dirty="0" err="1">
                <a:solidFill>
                  <a:srgbClr val="800020"/>
                </a:solidFill>
              </a:rPr>
              <a:t>Φυσική</a:t>
            </a:r>
            <a:r>
              <a:rPr lang="en-US" sz="4400" b="1" dirty="0">
                <a:solidFill>
                  <a:srgbClr val="800020"/>
                </a:solidFill>
              </a:rPr>
              <a:t> </a:t>
            </a:r>
            <a:r>
              <a:rPr lang="en-US" sz="4400" b="1" dirty="0" err="1">
                <a:solidFill>
                  <a:srgbClr val="800020"/>
                </a:solidFill>
              </a:rPr>
              <a:t>Υλο</a:t>
            </a:r>
            <a:r>
              <a:rPr lang="en-US" sz="4400" b="1" dirty="0">
                <a:solidFill>
                  <a:srgbClr val="800020"/>
                </a:solidFill>
              </a:rPr>
              <a:t>ποίηση</a:t>
            </a:r>
          </a:p>
          <a:p>
            <a:pPr marL="0" marR="0" indent="0" algn="l">
              <a:spcAft>
                <a:spcPts val="2250"/>
              </a:spcAft>
              <a:buNone/>
            </a:pPr>
            <a:endParaRPr lang="en-US" sz="8800" b="1" i="0" spc="-38" dirty="0">
              <a:solidFill>
                <a:srgbClr val="800020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AD2389-C140-1A89-122E-3AB8B90F010B}"/>
              </a:ext>
            </a:extLst>
          </p:cNvPr>
          <p:cNvSpPr txBox="1"/>
          <p:nvPr/>
        </p:nvSpPr>
        <p:spPr>
          <a:xfrm>
            <a:off x="645049" y="2333649"/>
            <a:ext cx="3590521" cy="25391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spcAft>
                <a:spcPts val="900"/>
              </a:spcAft>
              <a:buNone/>
            </a:pPr>
            <a:r>
              <a:rPr lang="en-US" b="1" i="0" dirty="0" err="1">
                <a:solidFill>
                  <a:srgbClr val="800020"/>
                </a:solidFill>
                <a:effectLst/>
              </a:rPr>
              <a:t>Innovus</a:t>
            </a:r>
            <a:r>
              <a:rPr lang="en-US" b="1" i="0" dirty="0">
                <a:solidFill>
                  <a:srgbClr val="800020"/>
                </a:solidFill>
                <a:effectLst/>
              </a:rPr>
              <a:t> Place &amp; Route</a:t>
            </a:r>
          </a:p>
          <a:p>
            <a:pPr marL="0" marR="0" indent="0" algn="just">
              <a:spcAft>
                <a:spcPts val="900"/>
              </a:spcAft>
              <a:buNone/>
            </a:pPr>
            <a:r>
              <a:rPr lang="en-US" sz="1400" b="0" i="0" dirty="0" err="1">
                <a:solidFill>
                  <a:srgbClr val="1E293B"/>
                </a:solidFill>
                <a:effectLst/>
              </a:rPr>
              <a:t>Το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  netlist 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εισήχθη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 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στο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 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εργ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αλείο </a:t>
            </a:r>
            <a:r>
              <a:rPr lang="en-US" sz="1400" b="1" i="0" dirty="0">
                <a:solidFill>
                  <a:srgbClr val="1E293B"/>
                </a:solidFill>
                <a:effectLst/>
              </a:rPr>
              <a:t>Innovus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 για τη φυσική σχεδίαση του chip.</a:t>
            </a:r>
          </a:p>
          <a:p>
            <a:pPr indent="0" algn="just"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1E293B"/>
                </a:solidFill>
                <a:effectLst/>
              </a:rPr>
              <a:t>Floorplanning</a:t>
            </a:r>
            <a:r>
              <a:rPr lang="en-US" sz="1400" b="1" i="0" dirty="0">
                <a:solidFill>
                  <a:srgbClr val="1E293B"/>
                </a:solidFill>
                <a:effectLst/>
              </a:rPr>
              <a:t>: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 Κα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θορίστηκε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 ο π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υρήν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ας και τα Power Rings (VDD/VSS).</a:t>
            </a:r>
          </a:p>
          <a:p>
            <a:pPr indent="0" algn="just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1E293B"/>
              </a:solidFill>
              <a:effectLst/>
            </a:endParaRPr>
          </a:p>
          <a:p>
            <a:pPr indent="0" algn="just">
              <a:buFont typeface="Arial" panose="020B0604020202020204" pitchFamily="34" charset="0"/>
              <a:buChar char="•"/>
            </a:pPr>
            <a:r>
              <a:rPr lang="en-US" sz="1400" b="1" i="0" dirty="0">
                <a:solidFill>
                  <a:srgbClr val="1E293B"/>
                </a:solidFill>
                <a:effectLst/>
              </a:rPr>
              <a:t>Placement &amp; Routing: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 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Το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ποθέτηση των standard cells και λεπτομερής δρομολόγηση στα μεταλλικά επίπεδα.</a:t>
            </a:r>
          </a:p>
          <a:p>
            <a:pPr indent="0" algn="just">
              <a:buFont typeface="Arial" panose="020B0604020202020204" pitchFamily="34" charset="0"/>
              <a:buChar char="•"/>
            </a:pPr>
            <a:endParaRPr lang="en-US" sz="1400" b="0" i="0" dirty="0">
              <a:solidFill>
                <a:srgbClr val="1E293B"/>
              </a:solidFill>
              <a:effectLst/>
            </a:endParaRPr>
          </a:p>
        </p:txBody>
      </p:sp>
      <p:pic>
        <p:nvPicPr>
          <p:cNvPr id="10" name="Picture 10">
            <a:extLst>
              <a:ext uri="{FF2B5EF4-FFF2-40B4-BE49-F238E27FC236}">
                <a16:creationId xmlns:a16="http://schemas.microsoft.com/office/drawing/2014/main" id="{7BA3B7CB-3A5E-1239-8EFF-47D42BCFC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8914" y="1483491"/>
            <a:ext cx="5175035" cy="4434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1874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321E72-8867-D58F-CB0A-7DC3B8183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7ABD3E07-9B15-FACE-E16F-8A3B6C5D8B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B036B0F-6126-A2E6-07DA-ED6732CA8989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1C4BADB-5D64-C7EE-3AA2-5846546B2B45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46A6F6B7-7F98-B5F1-A5FC-A972532270F2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FF81F8E0-385C-876E-4F09-6759F7B570E8}"/>
              </a:ext>
            </a:extLst>
          </p:cNvPr>
          <p:cNvSpPr txBox="1"/>
          <p:nvPr/>
        </p:nvSpPr>
        <p:spPr>
          <a:xfrm>
            <a:off x="645049" y="457887"/>
            <a:ext cx="8241776" cy="24186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lang="en-US" sz="4400" b="1" dirty="0">
                <a:solidFill>
                  <a:srgbClr val="800020"/>
                </a:solidFill>
              </a:rPr>
              <a:t>Report Timing </a:t>
            </a:r>
            <a:r>
              <a:rPr lang="el-GR" sz="4400" b="1" dirty="0">
                <a:solidFill>
                  <a:srgbClr val="800020"/>
                </a:solidFill>
              </a:rPr>
              <a:t>για </a:t>
            </a:r>
            <a:r>
              <a:rPr lang="en-US" sz="4400" b="1" dirty="0" err="1">
                <a:solidFill>
                  <a:srgbClr val="800020"/>
                </a:solidFill>
              </a:rPr>
              <a:t>Innovus</a:t>
            </a:r>
            <a:endParaRPr lang="en-US" sz="4400" b="1" dirty="0">
              <a:solidFill>
                <a:srgbClr val="800020"/>
              </a:solidFill>
            </a:endParaRPr>
          </a:p>
          <a:p>
            <a:pPr marL="0" marR="0" indent="0" algn="l">
              <a:spcAft>
                <a:spcPts val="2250"/>
              </a:spcAft>
              <a:buNone/>
            </a:pPr>
            <a:endParaRPr lang="en-US" sz="8800" b="1" i="0" spc="-38" dirty="0">
              <a:solidFill>
                <a:srgbClr val="800020"/>
              </a:solidFill>
              <a:effectLst/>
              <a:latin typeface="Poppins" panose="00000500000000000000" pitchFamily="2" charset="0"/>
            </a:endParaRPr>
          </a:p>
        </p:txBody>
      </p:sp>
      <p:pic>
        <p:nvPicPr>
          <p:cNvPr id="4" name="Picture 11">
            <a:extLst>
              <a:ext uri="{FF2B5EF4-FFF2-40B4-BE49-F238E27FC236}">
                <a16:creationId xmlns:a16="http://schemas.microsoft.com/office/drawing/2014/main" id="{70F032C5-4D4B-5C91-F6F4-C3A5762C5A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052" y="1611112"/>
            <a:ext cx="6881618" cy="39945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03BF989-1404-A0BA-DD33-E25CA8502131}"/>
              </a:ext>
            </a:extLst>
          </p:cNvPr>
          <p:cNvSpPr txBox="1"/>
          <p:nvPr/>
        </p:nvSpPr>
        <p:spPr>
          <a:xfrm>
            <a:off x="645049" y="2998113"/>
            <a:ext cx="3178014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buFont typeface="Arial" panose="020B0604020202020204" pitchFamily="34" charset="0"/>
              <a:buChar char="•"/>
            </a:pPr>
            <a:r>
              <a:rPr lang="en-US" sz="1800" b="1" i="0" dirty="0">
                <a:solidFill>
                  <a:srgbClr val="1E293B"/>
                </a:solidFill>
                <a:effectLst/>
              </a:rPr>
              <a:t>Post-Route</a:t>
            </a:r>
            <a:endParaRPr lang="el-GR" sz="1800" b="1" i="0" dirty="0">
              <a:solidFill>
                <a:srgbClr val="1E293B"/>
              </a:solidFill>
              <a:effectLst/>
            </a:endParaRPr>
          </a:p>
          <a:p>
            <a:pPr algn="just"/>
            <a:r>
              <a:rPr lang="en-US" sz="1800" b="1" i="0" dirty="0">
                <a:solidFill>
                  <a:srgbClr val="1E293B"/>
                </a:solidFill>
                <a:effectLst/>
              </a:rPr>
              <a:t> </a:t>
            </a:r>
            <a:r>
              <a:rPr lang="en-US" sz="1400" b="1" i="0" dirty="0">
                <a:solidFill>
                  <a:srgbClr val="1E293B"/>
                </a:solidFill>
                <a:effectLst/>
              </a:rPr>
              <a:t>Timing: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 </a:t>
            </a:r>
            <a:r>
              <a:rPr lang="en-US" sz="1400" dirty="0" err="1">
                <a:solidFill>
                  <a:srgbClr val="1E293B"/>
                </a:solidFill>
              </a:rPr>
              <a:t>Γι</a:t>
            </a:r>
            <a:r>
              <a:rPr lang="en-US" sz="1400" dirty="0">
                <a:solidFill>
                  <a:srgbClr val="1E293B"/>
                </a:solidFill>
              </a:rPr>
              <a:t>α </a:t>
            </a:r>
            <a:r>
              <a:rPr lang="en-US" sz="1400" b="1" dirty="0">
                <a:solidFill>
                  <a:srgbClr val="1E293B"/>
                </a:solidFill>
              </a:rPr>
              <a:t>clock period </a:t>
            </a:r>
            <a:r>
              <a:rPr lang="en-US" sz="1400" dirty="0">
                <a:solidFill>
                  <a:srgbClr val="1E293B"/>
                </a:solidFill>
              </a:rPr>
              <a:t>1.5 ns, η απαιτούμενη άφιξη είναι 1.388 ns, ενώ η πραγματική άφιξη είναι 1.042 ns.</a:t>
            </a:r>
          </a:p>
          <a:p>
            <a:pPr indent="0" algn="just"/>
            <a:r>
              <a:rPr lang="en-US" sz="1400" b="0" i="0" dirty="0">
                <a:solidFill>
                  <a:srgbClr val="1E293B"/>
                </a:solidFill>
                <a:effectLst/>
              </a:rPr>
              <a:t>Επιβεβα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ίωση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 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της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 α</a:t>
            </a:r>
            <a:r>
              <a:rPr lang="en-US" sz="1400" b="0" i="0" dirty="0" err="1">
                <a:solidFill>
                  <a:srgbClr val="1E293B"/>
                </a:solidFill>
                <a:effectLst/>
              </a:rPr>
              <a:t>σφ</a:t>
            </a:r>
            <a:r>
              <a:rPr lang="en-US" sz="1400" b="0" i="0" dirty="0">
                <a:solidFill>
                  <a:srgbClr val="1E293B"/>
                </a:solidFill>
                <a:effectLst/>
              </a:rPr>
              <a:t>αλούς λειτουργίας με θετικό </a:t>
            </a:r>
            <a:r>
              <a:rPr lang="en-US" sz="1400" b="1" i="0" dirty="0">
                <a:solidFill>
                  <a:srgbClr val="1E293B"/>
                </a:solidFill>
                <a:effectLst/>
              </a:rPr>
              <a:t>Slack 0.346 ns</a:t>
            </a:r>
            <a:r>
              <a:rPr lang="el-GR" sz="1400" dirty="0">
                <a:solidFill>
                  <a:srgbClr val="1E293B"/>
                </a:solidFill>
              </a:rPr>
              <a:t>. </a:t>
            </a:r>
            <a:endParaRPr lang="en-US" sz="1800" b="0" i="0" dirty="0">
              <a:solidFill>
                <a:srgbClr val="1E293B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060889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C16DBDA-CE2C-8080-331F-7DBECDD3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8C80E97B-652B-D469-4F18-EB777E481F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F2E52D2C-5145-9013-BF90-F4802B12C2C3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0781710-8160-FF5B-FC70-E7BE8F05A524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3E7C1778-B468-EE73-5430-29B4CC709195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B6B168D-93F8-0B4D-1D08-1BDA5E136454}"/>
              </a:ext>
            </a:extLst>
          </p:cNvPr>
          <p:cNvSpPr txBox="1"/>
          <p:nvPr/>
        </p:nvSpPr>
        <p:spPr>
          <a:xfrm>
            <a:off x="645049" y="469356"/>
            <a:ext cx="88054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Innovus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 </a:t>
            </a:r>
            <a:r>
              <a:rPr lang="el-GR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με 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Clock Tree Synthesis </a:t>
            </a:r>
            <a:endParaRPr lang="en-US" sz="4400" b="1" dirty="0">
              <a:solidFill>
                <a:srgbClr val="800020"/>
              </a:solidFill>
            </a:endParaRPr>
          </a:p>
        </p:txBody>
      </p:sp>
      <p:pic>
        <p:nvPicPr>
          <p:cNvPr id="11" name="Εικόνα 10">
            <a:extLst>
              <a:ext uri="{FF2B5EF4-FFF2-40B4-BE49-F238E27FC236}">
                <a16:creationId xmlns:a16="http://schemas.microsoft.com/office/drawing/2014/main" id="{39E92695-A4FF-D8E5-C594-264E5C56F7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75939" y="1489460"/>
            <a:ext cx="5025411" cy="448582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4877C51-4728-C1B5-09A4-D1BE3509C1A7}"/>
              </a:ext>
            </a:extLst>
          </p:cNvPr>
          <p:cNvSpPr txBox="1"/>
          <p:nvPr/>
        </p:nvSpPr>
        <p:spPr>
          <a:xfrm>
            <a:off x="645049" y="1531769"/>
            <a:ext cx="3065418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800020"/>
                </a:solidFill>
                <a:effectLst/>
              </a:rPr>
              <a:t>Δεύτερη</a:t>
            </a:r>
            <a:r>
              <a:rPr lang="en-US" sz="1400" b="1" i="0" dirty="0">
                <a:solidFill>
                  <a:srgbClr val="800020"/>
                </a:solidFill>
                <a:effectLst/>
              </a:rPr>
              <a:t> </a:t>
            </a:r>
            <a:r>
              <a:rPr lang="en-US" sz="1400" b="1" i="0" dirty="0" err="1">
                <a:solidFill>
                  <a:srgbClr val="800020"/>
                </a:solidFill>
                <a:effectLst/>
              </a:rPr>
              <a:t>υλο</a:t>
            </a:r>
            <a:r>
              <a:rPr lang="en-US" sz="1400" b="1" i="0" dirty="0">
                <a:solidFill>
                  <a:srgbClr val="800020"/>
                </a:solidFill>
                <a:effectLst/>
              </a:rPr>
              <a:t>ποίηση με CTS</a:t>
            </a:r>
            <a:r>
              <a:rPr lang="en-US" sz="1400" b="0" i="0" dirty="0">
                <a:solidFill>
                  <a:srgbClr val="800020"/>
                </a:solidFill>
                <a:effectLst/>
              </a:rPr>
              <a:t>:</a:t>
            </a:r>
            <a:r>
              <a:rPr lang="en-US" sz="1400" b="0" i="0" dirty="0">
                <a:effectLst/>
              </a:rPr>
              <a:t> Σε σχέση με την πρώτη υλοποίηση, εδώ το clock δεν μένει ιδανικό, αλλά δρομολογείται ως πραγματικό φυσικό δίκτυο μέσα στο layout. </a:t>
            </a:r>
            <a:endParaRPr lang="el-GR" sz="1400" b="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800020"/>
                </a:solidFill>
                <a:effectLst/>
              </a:rPr>
              <a:t>Εμφάνιση</a:t>
            </a:r>
            <a:r>
              <a:rPr lang="en-US" sz="1400" b="1" i="0" dirty="0">
                <a:solidFill>
                  <a:srgbClr val="800020"/>
                </a:solidFill>
                <a:effectLst/>
              </a:rPr>
              <a:t> clock routing: </a:t>
            </a:r>
            <a:r>
              <a:rPr lang="en-US" sz="1400" b="0" i="0" dirty="0" err="1">
                <a:effectLst/>
              </a:rPr>
              <a:t>Στο</a:t>
            </a:r>
            <a:r>
              <a:rPr lang="en-US" sz="1400" b="0" i="0" dirty="0">
                <a:effectLst/>
              </a:rPr>
              <a:t> layout φα</a:t>
            </a:r>
            <a:r>
              <a:rPr lang="en-US" sz="1400" b="0" i="0" dirty="0" err="1">
                <a:effectLst/>
              </a:rPr>
              <a:t>ίνοντ</a:t>
            </a:r>
            <a:r>
              <a:rPr lang="en-US" sz="1400" b="0" i="0" dirty="0">
                <a:effectLst/>
              </a:rPr>
              <a:t>αι περισσότερες clock διαδρομές προς τους καταχωρητές, επειδή πλέον έχει γίνει διανομή του clk στα sequential στοιχεία του κυκλώματος. </a:t>
            </a:r>
            <a:endParaRPr lang="el-GR" sz="1400" b="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i="0" dirty="0" err="1">
                <a:solidFill>
                  <a:srgbClr val="800020"/>
                </a:solidFill>
                <a:effectLst/>
              </a:rPr>
              <a:t>Πιο</a:t>
            </a:r>
            <a:r>
              <a:rPr lang="en-US" sz="1400" b="1" i="0" dirty="0">
                <a:solidFill>
                  <a:srgbClr val="800020"/>
                </a:solidFill>
                <a:effectLst/>
              </a:rPr>
              <a:t> </a:t>
            </a:r>
            <a:r>
              <a:rPr lang="en-US" sz="1400" b="1" i="0" dirty="0" err="1">
                <a:solidFill>
                  <a:srgbClr val="800020"/>
                </a:solidFill>
                <a:effectLst/>
              </a:rPr>
              <a:t>ρε</a:t>
            </a:r>
            <a:r>
              <a:rPr lang="en-US" sz="1400" b="1" i="0" dirty="0">
                <a:solidFill>
                  <a:srgbClr val="800020"/>
                </a:solidFill>
                <a:effectLst/>
              </a:rPr>
              <a:t>αλιστικό post-route αποτέλεσμα: </a:t>
            </a:r>
            <a:r>
              <a:rPr lang="en-US" sz="1400" b="0" i="0" dirty="0">
                <a:effectLst/>
              </a:rPr>
              <a:t>Η υλοποίηση αυτή λαμβάνει υπόψη clock skew και clock routing, άρα είναι πιο πλήρης για τελικό timing verification σε σχέση με την απλή υλοποίηση χωρίς CTS.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3981788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9A58FF3-75DA-4231-0EB1-DBF98D37C7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3367C745-077F-ABBB-3D7E-5A919B1390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DE833F63-8C58-EC61-DFB2-4833766A181E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5B00FF0-0BED-1BAD-E7D7-408C1B26CF7B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D1E512D1-8943-0271-5063-F8E5FAAFC425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B486807-9881-5377-70C5-AC109863FA30}"/>
              </a:ext>
            </a:extLst>
          </p:cNvPr>
          <p:cNvSpPr txBox="1"/>
          <p:nvPr/>
        </p:nvSpPr>
        <p:spPr>
          <a:xfrm>
            <a:off x="645049" y="2705725"/>
            <a:ext cx="4021842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800020"/>
                </a:solidFill>
              </a:rPr>
              <a:t>Βελτιωμένη</a:t>
            </a:r>
            <a:r>
              <a:rPr lang="en-US" b="1" dirty="0">
                <a:solidFill>
                  <a:srgbClr val="800020"/>
                </a:solidFill>
              </a:rPr>
              <a:t> </a:t>
            </a:r>
            <a:r>
              <a:rPr lang="en-US" b="1" dirty="0" err="1">
                <a:solidFill>
                  <a:srgbClr val="800020"/>
                </a:solidFill>
              </a:rPr>
              <a:t>Ροή</a:t>
            </a:r>
            <a:r>
              <a:rPr lang="en-US" b="1" dirty="0">
                <a:solidFill>
                  <a:srgbClr val="800020"/>
                </a:solidFill>
              </a:rPr>
              <a:t> </a:t>
            </a:r>
            <a:r>
              <a:rPr lang="en-US" b="1" dirty="0" err="1">
                <a:solidFill>
                  <a:srgbClr val="800020"/>
                </a:solidFill>
              </a:rPr>
              <a:t>Φυσικής</a:t>
            </a:r>
            <a:r>
              <a:rPr lang="en-US" b="1" dirty="0">
                <a:solidFill>
                  <a:srgbClr val="800020"/>
                </a:solidFill>
              </a:rPr>
              <a:t> </a:t>
            </a:r>
            <a:r>
              <a:rPr lang="en-US" b="1" dirty="0" err="1">
                <a:solidFill>
                  <a:srgbClr val="800020"/>
                </a:solidFill>
              </a:rPr>
              <a:t>Σχεδί</a:t>
            </a:r>
            <a:r>
              <a:rPr lang="en-US" b="1" dirty="0">
                <a:solidFill>
                  <a:srgbClr val="800020"/>
                </a:solidFill>
              </a:rPr>
              <a:t>ασης</a:t>
            </a:r>
            <a:endParaRPr lang="el-GR" b="1" dirty="0">
              <a:solidFill>
                <a:srgbClr val="800020"/>
              </a:solidFill>
            </a:endParaRP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 err="1">
                <a:solidFill>
                  <a:srgbClr val="800020"/>
                </a:solidFill>
              </a:rPr>
              <a:t>Αρχιτεκτονική</a:t>
            </a:r>
            <a:r>
              <a:rPr lang="en-US" sz="1400" b="1" dirty="0">
                <a:solidFill>
                  <a:srgbClr val="800020"/>
                </a:solidFill>
              </a:rPr>
              <a:t> Clock Tree:</a:t>
            </a:r>
            <a:r>
              <a:rPr lang="en-US" sz="1400" dirty="0">
                <a:solidFill>
                  <a:srgbClr val="800020"/>
                </a:solidFill>
              </a:rPr>
              <a:t> </a:t>
            </a:r>
            <a:r>
              <a:rPr lang="en-US" sz="1400" dirty="0" err="1"/>
              <a:t>Δομή</a:t>
            </a:r>
            <a:r>
              <a:rPr lang="en-US" sz="1400" dirty="0"/>
              <a:t> «α</a:t>
            </a:r>
            <a:r>
              <a:rPr lang="en-US" sz="1400" dirty="0" err="1"/>
              <a:t>στέρ</a:t>
            </a:r>
            <a:r>
              <a:rPr lang="en-US" sz="1400" dirty="0"/>
              <a:t>α» λόγω μικρού μεγέθους, με 26 sequential sinks και άμεση οδήγηση χωρίς πρόσθετα buffer stages.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1E6478-EBD9-A8F3-C524-7683ECC6F8C5}"/>
              </a:ext>
            </a:extLst>
          </p:cNvPr>
          <p:cNvSpPr txBox="1"/>
          <p:nvPr/>
        </p:nvSpPr>
        <p:spPr>
          <a:xfrm>
            <a:off x="645049" y="469356"/>
            <a:ext cx="88054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Innovus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 </a:t>
            </a:r>
            <a:r>
              <a:rPr lang="el-GR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με 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Clock Tree Synthesis </a:t>
            </a:r>
            <a:endParaRPr lang="en-US" sz="4400" b="1" dirty="0">
              <a:solidFill>
                <a:srgbClr val="800020"/>
              </a:solidFill>
            </a:endParaRP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DEB00239-A69E-53D3-FAC9-C4AF366EA6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7750" y="1707458"/>
            <a:ext cx="5943600" cy="35385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0182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D01CB8-AEA5-4B4B-B114-9CB155A83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AC1F1335-4CFB-5DF2-4266-4DB571AC00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02BCDAE6-06D0-6317-B663-72A778072F6C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98839E7B-B004-F47A-EB4A-CDF8528E4BF8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A0FACF94-C750-D608-DFBF-53FD33DC759B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D470D95-D93A-4721-5F48-3FB593872FAD}"/>
              </a:ext>
            </a:extLst>
          </p:cNvPr>
          <p:cNvSpPr txBox="1"/>
          <p:nvPr/>
        </p:nvSpPr>
        <p:spPr>
          <a:xfrm>
            <a:off x="645049" y="2944874"/>
            <a:ext cx="441488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800020"/>
                </a:solidFill>
              </a:rPr>
              <a:t>Πλήρης</a:t>
            </a:r>
            <a:r>
              <a:rPr lang="en-US" b="1" dirty="0">
                <a:solidFill>
                  <a:srgbClr val="800020"/>
                </a:solidFill>
              </a:rPr>
              <a:t> Επ</a:t>
            </a:r>
            <a:r>
              <a:rPr lang="en-US" b="1" dirty="0" err="1">
                <a:solidFill>
                  <a:srgbClr val="800020"/>
                </a:solidFill>
              </a:rPr>
              <a:t>ιτυχί</a:t>
            </a:r>
            <a:r>
              <a:rPr lang="en-US" b="1" dirty="0">
                <a:solidFill>
                  <a:srgbClr val="800020"/>
                </a:solidFill>
              </a:rPr>
              <a:t>α Verification:</a:t>
            </a:r>
            <a:endParaRPr lang="el-GR" b="1" dirty="0">
              <a:solidFill>
                <a:srgbClr val="800020"/>
              </a:solidFill>
            </a:endParaRPr>
          </a:p>
          <a:p>
            <a:endParaRPr lang="en-US" dirty="0">
              <a:solidFill>
                <a:srgbClr val="800020"/>
              </a:solidFill>
            </a:endParaRPr>
          </a:p>
          <a:p>
            <a:r>
              <a:rPr lang="en-US" sz="1400" b="1" dirty="0"/>
              <a:t>Connectivity:</a:t>
            </a:r>
            <a:r>
              <a:rPr lang="en-US" sz="1400" dirty="0"/>
              <a:t> 0 violations/warnings.</a:t>
            </a:r>
            <a:endParaRPr lang="el-GR" sz="1400" dirty="0"/>
          </a:p>
          <a:p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885C15-DDEA-8D61-EF75-CBC0149D2EFD}"/>
              </a:ext>
            </a:extLst>
          </p:cNvPr>
          <p:cNvSpPr txBox="1"/>
          <p:nvPr/>
        </p:nvSpPr>
        <p:spPr>
          <a:xfrm>
            <a:off x="645049" y="469356"/>
            <a:ext cx="88054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Innovus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 </a:t>
            </a:r>
            <a:r>
              <a:rPr lang="el-GR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με 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Clock Tree Synthesis </a:t>
            </a:r>
            <a:endParaRPr lang="en-US" sz="4400" b="1" dirty="0">
              <a:solidFill>
                <a:srgbClr val="800020"/>
              </a:solidFill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8F3AD734-80A7-BDF7-7F72-B8AB662E78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9934" y="1564136"/>
            <a:ext cx="5741416" cy="38363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382503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7CC4C1-8FE0-6F36-4E57-6568E48784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77FF5B6A-0F84-6F36-E8AC-98D692913B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B3255EB8-548A-4891-7C2A-D7B4DEDD3092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3584902-605F-09A9-AD00-ECC3450700BD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350B0334-2B9D-7402-36A3-9EA1CB93FA0C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801E2ED7-6BB6-DD8C-8353-9EAFB043E91D}"/>
              </a:ext>
            </a:extLst>
          </p:cNvPr>
          <p:cNvSpPr txBox="1"/>
          <p:nvPr/>
        </p:nvSpPr>
        <p:spPr>
          <a:xfrm>
            <a:off x="291850" y="2951945"/>
            <a:ext cx="4414885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800020"/>
                </a:solidFill>
              </a:rPr>
              <a:t>Πλήρης</a:t>
            </a:r>
            <a:r>
              <a:rPr lang="en-US" b="1" dirty="0">
                <a:solidFill>
                  <a:srgbClr val="800020"/>
                </a:solidFill>
              </a:rPr>
              <a:t> Επ</a:t>
            </a:r>
            <a:r>
              <a:rPr lang="en-US" b="1" dirty="0" err="1">
                <a:solidFill>
                  <a:srgbClr val="800020"/>
                </a:solidFill>
              </a:rPr>
              <a:t>ιτυχί</a:t>
            </a:r>
            <a:r>
              <a:rPr lang="en-US" b="1" dirty="0">
                <a:solidFill>
                  <a:srgbClr val="800020"/>
                </a:solidFill>
              </a:rPr>
              <a:t>α Verification:</a:t>
            </a:r>
            <a:endParaRPr lang="el-GR" b="1" dirty="0">
              <a:solidFill>
                <a:srgbClr val="800020"/>
              </a:solidFill>
            </a:endParaRPr>
          </a:p>
          <a:p>
            <a:endParaRPr lang="en-US" sz="1400" dirty="0"/>
          </a:p>
          <a:p>
            <a:r>
              <a:rPr lang="en-US" sz="1400" b="1" dirty="0"/>
              <a:t>DRC:</a:t>
            </a:r>
            <a:r>
              <a:rPr lang="en-US" sz="1400" dirty="0"/>
              <a:t> 0 violations (π</a:t>
            </a:r>
            <a:r>
              <a:rPr lang="en-US" sz="1400" dirty="0" err="1"/>
              <a:t>λήρης</a:t>
            </a:r>
            <a:r>
              <a:rPr lang="en-US" sz="1400" dirty="0"/>
              <a:t> </a:t>
            </a:r>
            <a:r>
              <a:rPr lang="en-US" sz="1400" dirty="0" err="1"/>
              <a:t>συμμόρφωση</a:t>
            </a:r>
            <a:r>
              <a:rPr lang="en-US" sz="1400" dirty="0"/>
              <a:t> </a:t>
            </a:r>
            <a:r>
              <a:rPr lang="en-US" sz="1400" dirty="0" err="1"/>
              <a:t>με</a:t>
            </a:r>
            <a:r>
              <a:rPr lang="en-US" sz="1400" dirty="0"/>
              <a:t> </a:t>
            </a:r>
            <a:r>
              <a:rPr lang="en-US" sz="1400" dirty="0" err="1"/>
              <a:t>τους</a:t>
            </a:r>
            <a:r>
              <a:rPr lang="en-US" sz="1400" dirty="0"/>
              <a:t> κατα</a:t>
            </a:r>
            <a:r>
              <a:rPr lang="en-US" sz="1400" dirty="0" err="1"/>
              <a:t>σκευ</a:t>
            </a:r>
            <a:r>
              <a:rPr lang="en-US" sz="1400" dirty="0"/>
              <a:t>αστικούς κανόνες).</a:t>
            </a:r>
            <a:endParaRPr lang="el-GR" sz="1400" dirty="0"/>
          </a:p>
          <a:p>
            <a:endParaRPr lang="en-US" sz="1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875D6A-2B67-B06F-7B3A-9FC5CA5A3AD8}"/>
              </a:ext>
            </a:extLst>
          </p:cNvPr>
          <p:cNvSpPr txBox="1"/>
          <p:nvPr/>
        </p:nvSpPr>
        <p:spPr>
          <a:xfrm>
            <a:off x="645049" y="469356"/>
            <a:ext cx="88054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Innovus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 </a:t>
            </a:r>
            <a:r>
              <a:rPr lang="el-GR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με 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Clock Tree Synthesis </a:t>
            </a:r>
            <a:endParaRPr lang="en-US" sz="4400" b="1" dirty="0">
              <a:solidFill>
                <a:srgbClr val="800020"/>
              </a:solidFill>
            </a:endParaRPr>
          </a:p>
        </p:txBody>
      </p:sp>
      <p:pic>
        <p:nvPicPr>
          <p:cNvPr id="4" name="Εικόνα 3">
            <a:extLst>
              <a:ext uri="{FF2B5EF4-FFF2-40B4-BE49-F238E27FC236}">
                <a16:creationId xmlns:a16="http://schemas.microsoft.com/office/drawing/2014/main" id="{C1150085-B82C-4152-EBA9-CFC5148F8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14" y="2317480"/>
            <a:ext cx="6534136" cy="206286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48581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D8A15C-F942-132E-73F3-82E290F13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21AD568E-7160-45CD-2DC3-30437E5F4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F8456B67-6CCB-845B-FB49-01E7D9561534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2D734B2-81CE-53EA-B9D0-CCCE1CC757CA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FBDDB26D-45EC-6C0A-5818-83B817064507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6AF5980-93EF-8FB8-8959-13D26E1FEF8A}"/>
              </a:ext>
            </a:extLst>
          </p:cNvPr>
          <p:cNvSpPr txBox="1"/>
          <p:nvPr/>
        </p:nvSpPr>
        <p:spPr>
          <a:xfrm>
            <a:off x="632871" y="2481230"/>
            <a:ext cx="4414885" cy="2369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 err="1">
                <a:solidFill>
                  <a:srgbClr val="800020"/>
                </a:solidFill>
              </a:rPr>
              <a:t>Πλήρης</a:t>
            </a:r>
            <a:r>
              <a:rPr lang="en-US" b="1" dirty="0">
                <a:solidFill>
                  <a:srgbClr val="800020"/>
                </a:solidFill>
              </a:rPr>
              <a:t> Επ</a:t>
            </a:r>
            <a:r>
              <a:rPr lang="en-US" b="1" dirty="0" err="1">
                <a:solidFill>
                  <a:srgbClr val="800020"/>
                </a:solidFill>
              </a:rPr>
              <a:t>ιτυχί</a:t>
            </a:r>
            <a:r>
              <a:rPr lang="en-US" b="1" dirty="0">
                <a:solidFill>
                  <a:srgbClr val="800020"/>
                </a:solidFill>
              </a:rPr>
              <a:t>α Verification:</a:t>
            </a:r>
            <a:endParaRPr lang="el-GR" b="1" dirty="0">
              <a:solidFill>
                <a:srgbClr val="800020"/>
              </a:solidFill>
            </a:endParaRPr>
          </a:p>
          <a:p>
            <a:endParaRPr lang="en-US" sz="1400" dirty="0"/>
          </a:p>
          <a:p>
            <a:r>
              <a:rPr lang="en-US" b="1" dirty="0">
                <a:solidFill>
                  <a:srgbClr val="800020"/>
                </a:solidFill>
              </a:rPr>
              <a:t>Απ</a:t>
            </a:r>
            <a:r>
              <a:rPr lang="en-US" b="1" dirty="0" err="1">
                <a:solidFill>
                  <a:srgbClr val="800020"/>
                </a:solidFill>
              </a:rPr>
              <a:t>οτελέσμ</a:t>
            </a:r>
            <a:r>
              <a:rPr lang="en-US" b="1" dirty="0">
                <a:solidFill>
                  <a:srgbClr val="800020"/>
                </a:solidFill>
              </a:rPr>
              <a:t>ατα Χρονισμού (Timing):</a:t>
            </a:r>
            <a:endParaRPr lang="en-US" dirty="0">
              <a:solidFill>
                <a:srgbClr val="800020"/>
              </a:solidFill>
            </a:endParaRPr>
          </a:p>
          <a:p>
            <a:r>
              <a:rPr lang="en-US" sz="1400" b="1" dirty="0"/>
              <a:t>Clock Period:</a:t>
            </a:r>
            <a:r>
              <a:rPr lang="en-US" sz="1400" dirty="0"/>
              <a:t> 1.5 ns.</a:t>
            </a:r>
            <a:endParaRPr lang="el-GR" sz="1400" dirty="0"/>
          </a:p>
          <a:p>
            <a:endParaRPr lang="en-US" sz="1400" dirty="0"/>
          </a:p>
          <a:p>
            <a:r>
              <a:rPr lang="en-US" sz="1400" b="1" dirty="0"/>
              <a:t>Slack:</a:t>
            </a:r>
            <a:r>
              <a:rPr lang="en-US" sz="1400" dirty="0"/>
              <a:t> +0.204 ns (επ</a:t>
            </a:r>
            <a:r>
              <a:rPr lang="en-US" sz="1400" dirty="0" err="1"/>
              <a:t>ιτυχής</a:t>
            </a:r>
            <a:r>
              <a:rPr lang="en-US" sz="1400" dirty="0"/>
              <a:t> </a:t>
            </a:r>
            <a:r>
              <a:rPr lang="en-US" sz="1400" dirty="0" err="1"/>
              <a:t>ικ</a:t>
            </a:r>
            <a:r>
              <a:rPr lang="en-US" sz="1400" dirty="0"/>
              <a:t>ανοποίηση του setup timing).</a:t>
            </a:r>
            <a:endParaRPr lang="el-GR" sz="1400" dirty="0"/>
          </a:p>
          <a:p>
            <a:endParaRPr lang="en-US" sz="1400" dirty="0"/>
          </a:p>
          <a:p>
            <a:r>
              <a:rPr lang="en-US" sz="1400" b="1" dirty="0"/>
              <a:t>Critical Path:</a:t>
            </a:r>
            <a:r>
              <a:rPr lang="en-US" sz="1400" dirty="0"/>
              <a:t> Από </a:t>
            </a:r>
            <a:r>
              <a:rPr lang="en-US" sz="1400" dirty="0" err="1"/>
              <a:t>REG_A_q_reg</a:t>
            </a:r>
            <a:r>
              <a:rPr lang="en-US" sz="1400" dirty="0"/>
              <a:t>[1] π</a:t>
            </a:r>
            <a:r>
              <a:rPr lang="en-US" sz="1400" dirty="0" err="1"/>
              <a:t>ρος</a:t>
            </a:r>
            <a:r>
              <a:rPr lang="en-US" sz="1400" dirty="0"/>
              <a:t> </a:t>
            </a:r>
            <a:r>
              <a:rPr lang="en-US" sz="1400" dirty="0" err="1"/>
              <a:t>REG_COUT_q_reg</a:t>
            </a:r>
            <a:r>
              <a:rPr lang="en-US" sz="1400" dirty="0"/>
              <a:t>[0] (</a:t>
            </a:r>
            <a:r>
              <a:rPr lang="en-US" sz="1400" dirty="0" err="1"/>
              <a:t>μέσω</a:t>
            </a:r>
            <a:r>
              <a:rPr lang="en-US" sz="1400" dirty="0"/>
              <a:t> ADDER_CORE).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BFD9E3D-1D12-A0FC-BBB0-DB7E8DBFF4FC}"/>
              </a:ext>
            </a:extLst>
          </p:cNvPr>
          <p:cNvSpPr txBox="1"/>
          <p:nvPr/>
        </p:nvSpPr>
        <p:spPr>
          <a:xfrm>
            <a:off x="645049" y="469356"/>
            <a:ext cx="8805415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b="1" dirty="0" err="1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Innovus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 </a:t>
            </a:r>
            <a:r>
              <a:rPr lang="el-GR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με </a:t>
            </a:r>
            <a:r>
              <a:rPr lang="en-US" sz="4400" b="1" dirty="0">
                <a:solidFill>
                  <a:srgbClr val="800020"/>
                </a:solidFill>
                <a:effectLst/>
                <a:latin typeface="Cambria" panose="02040503050406030204" pitchFamily="18" charset="0"/>
                <a:ea typeface="Liberation Serif"/>
                <a:cs typeface="Times New Roman" panose="02020603050405020304" pitchFamily="18" charset="0"/>
              </a:rPr>
              <a:t>Clock Tree Synthesis </a:t>
            </a:r>
            <a:endParaRPr lang="en-US" sz="4400" b="1" dirty="0">
              <a:solidFill>
                <a:srgbClr val="800020"/>
              </a:solidFill>
            </a:endParaRPr>
          </a:p>
        </p:txBody>
      </p:sp>
      <p:pic>
        <p:nvPicPr>
          <p:cNvPr id="6" name="Εικόνα 5">
            <a:extLst>
              <a:ext uri="{FF2B5EF4-FFF2-40B4-BE49-F238E27FC236}">
                <a16:creationId xmlns:a16="http://schemas.microsoft.com/office/drawing/2014/main" id="{2F6087AC-64D0-4223-EAF1-8CD1F0250A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51863" y="1514981"/>
            <a:ext cx="5149487" cy="43242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729778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B85D8C8-809B-A98C-A2BA-5BBDA5C8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9812FDDB-3BAE-5572-9342-3C86B1EE1A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7798D2E5-FD5F-DBFF-1BEA-2860F35DCDBD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F26C01-2593-F327-2528-7523A07EE323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91E4FE91-1673-17CF-D3C4-30F95E3C3218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7EB8D03-8A71-06DC-7639-8B878ABBD7D0}"/>
              </a:ext>
            </a:extLst>
          </p:cNvPr>
          <p:cNvSpPr txBox="1"/>
          <p:nvPr/>
        </p:nvSpPr>
        <p:spPr>
          <a:xfrm>
            <a:off x="645049" y="495391"/>
            <a:ext cx="9779111" cy="18646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lang="en-US" sz="4800" b="1" dirty="0">
                <a:solidFill>
                  <a:srgbClr val="800020"/>
                </a:solidFill>
              </a:rPr>
              <a:t>Gate-Level Simulation</a:t>
            </a:r>
            <a:r>
              <a:rPr lang="el-GR" sz="4800" b="1" dirty="0">
                <a:solidFill>
                  <a:srgbClr val="800020"/>
                </a:solidFill>
              </a:rPr>
              <a:t> με </a:t>
            </a:r>
            <a:r>
              <a:rPr lang="en-US" sz="4800" b="1" dirty="0" err="1">
                <a:solidFill>
                  <a:srgbClr val="800020"/>
                </a:solidFill>
              </a:rPr>
              <a:t>Xcelium</a:t>
            </a:r>
            <a:r>
              <a:rPr lang="en-US" sz="4800" b="1" dirty="0">
                <a:solidFill>
                  <a:srgbClr val="800020"/>
                </a:solidFill>
              </a:rPr>
              <a:t> </a:t>
            </a:r>
          </a:p>
          <a:p>
            <a:pPr marL="0" marR="0" indent="0" algn="l">
              <a:spcAft>
                <a:spcPts val="2250"/>
              </a:spcAft>
              <a:buNone/>
            </a:pPr>
            <a:endParaRPr lang="en-US" sz="4800" b="1" i="0" spc="-38" dirty="0">
              <a:solidFill>
                <a:srgbClr val="800020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11" name="Ορθογώνιο: Στρογγύλεμα γωνιών 10">
            <a:extLst>
              <a:ext uri="{FF2B5EF4-FFF2-40B4-BE49-F238E27FC236}">
                <a16:creationId xmlns:a16="http://schemas.microsoft.com/office/drawing/2014/main" id="{5E03D356-5D34-0C49-AFF2-BB083D4A9184}"/>
              </a:ext>
            </a:extLst>
          </p:cNvPr>
          <p:cNvSpPr/>
          <p:nvPr/>
        </p:nvSpPr>
        <p:spPr>
          <a:xfrm>
            <a:off x="645049" y="2009270"/>
            <a:ext cx="3571844" cy="3526518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rgbClr val="800020"/>
                </a:solidFill>
              </a:rPr>
              <a:t>Gate-Level Simulation</a:t>
            </a:r>
            <a:r>
              <a:rPr lang="el-GR" b="1" dirty="0">
                <a:solidFill>
                  <a:srgbClr val="800020"/>
                </a:solidFill>
              </a:rPr>
              <a:t> με </a:t>
            </a:r>
            <a:r>
              <a:rPr lang="en-US" b="1" dirty="0" err="1">
                <a:solidFill>
                  <a:srgbClr val="800020"/>
                </a:solidFill>
              </a:rPr>
              <a:t>Xcelium</a:t>
            </a:r>
            <a:r>
              <a:rPr lang="en-US" b="1" dirty="0">
                <a:solidFill>
                  <a:srgbClr val="800020"/>
                </a:solidFill>
              </a:rPr>
              <a:t> </a:t>
            </a:r>
          </a:p>
          <a:p>
            <a:endParaRPr lang="en-US" b="1" dirty="0">
              <a:solidFill>
                <a:srgbClr val="800020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Διεξήχθη</a:t>
            </a:r>
            <a:r>
              <a:rPr lang="en-US" sz="1400" dirty="0">
                <a:solidFill>
                  <a:schemeClr val="tx1"/>
                </a:solidFill>
              </a:rPr>
              <a:t> π</a:t>
            </a:r>
            <a:r>
              <a:rPr lang="en-US" sz="1400" dirty="0" err="1">
                <a:solidFill>
                  <a:schemeClr val="tx1"/>
                </a:solidFill>
              </a:rPr>
              <a:t>ροσομοίωση</a:t>
            </a:r>
            <a:r>
              <a:rPr lang="en-US" sz="1400" dirty="0">
                <a:solidFill>
                  <a:schemeClr val="tx1"/>
                </a:solidFill>
              </a:rPr>
              <a:t> GLS </a:t>
            </a:r>
            <a:r>
              <a:rPr lang="en-US" sz="1400" dirty="0" err="1">
                <a:solidFill>
                  <a:schemeClr val="tx1"/>
                </a:solidFill>
              </a:rPr>
              <a:t>στο</a:t>
            </a:r>
            <a:r>
              <a:rPr lang="en-US" sz="1400" dirty="0">
                <a:solidFill>
                  <a:schemeClr val="tx1"/>
                </a:solidFill>
              </a:rPr>
              <a:t> </a:t>
            </a:r>
            <a:r>
              <a:rPr lang="en-US" sz="1400" b="1" dirty="0">
                <a:solidFill>
                  <a:schemeClr val="tx1"/>
                </a:solidFill>
              </a:rPr>
              <a:t>Cadence </a:t>
            </a:r>
            <a:r>
              <a:rPr lang="en-US" sz="1400" b="1" dirty="0" err="1">
                <a:solidFill>
                  <a:schemeClr val="tx1"/>
                </a:solidFill>
              </a:rPr>
              <a:t>Xcelium</a:t>
            </a:r>
            <a:r>
              <a:rPr lang="en-US" sz="1400" dirty="0">
                <a:solidFill>
                  <a:schemeClr val="tx1"/>
                </a:solidFill>
              </a:rPr>
              <a:t> </a:t>
            </a:r>
            <a:r>
              <a:rPr lang="en-US" sz="1400" dirty="0" err="1">
                <a:solidFill>
                  <a:schemeClr val="tx1"/>
                </a:solidFill>
              </a:rPr>
              <a:t>με</a:t>
            </a:r>
            <a:r>
              <a:rPr lang="en-US" sz="1400" dirty="0">
                <a:solidFill>
                  <a:schemeClr val="tx1"/>
                </a:solidFill>
              </a:rPr>
              <a:t> back-annotation </a:t>
            </a:r>
            <a:r>
              <a:rPr lang="en-US" sz="1400" dirty="0" err="1">
                <a:solidFill>
                  <a:schemeClr val="tx1"/>
                </a:solidFill>
              </a:rPr>
              <a:t>των</a:t>
            </a:r>
            <a:r>
              <a:rPr lang="en-US" sz="1400" dirty="0">
                <a:solidFill>
                  <a:schemeClr val="tx1"/>
                </a:solidFill>
              </a:rPr>
              <a:t> πρα</a:t>
            </a:r>
            <a:r>
              <a:rPr lang="en-US" sz="1400" dirty="0" err="1">
                <a:solidFill>
                  <a:schemeClr val="tx1"/>
                </a:solidFill>
              </a:rPr>
              <a:t>γμ</a:t>
            </a:r>
            <a:r>
              <a:rPr lang="en-US" sz="1400" dirty="0">
                <a:solidFill>
                  <a:schemeClr val="tx1"/>
                </a:solidFill>
              </a:rPr>
              <a:t>ατικών καθυστερήσεων από το αρχείο </a:t>
            </a:r>
            <a:r>
              <a:rPr lang="en-US" sz="1400" b="1" dirty="0">
                <a:solidFill>
                  <a:schemeClr val="tx1"/>
                </a:solidFill>
              </a:rPr>
              <a:t>SDF</a:t>
            </a:r>
            <a:r>
              <a:rPr lang="en-US" sz="1400" dirty="0">
                <a:solidFill>
                  <a:schemeClr val="tx1"/>
                </a:solidFill>
              </a:rPr>
              <a:t>.</a:t>
            </a:r>
          </a:p>
          <a:p>
            <a:endParaRPr lang="en-US" sz="1400" dirty="0">
              <a:solidFill>
                <a:schemeClr val="tx1"/>
              </a:solidFill>
            </a:endParaRPr>
          </a:p>
          <a:p>
            <a:r>
              <a:rPr lang="en-US" sz="1400" dirty="0" err="1">
                <a:solidFill>
                  <a:schemeClr val="tx1"/>
                </a:solidFill>
              </a:rPr>
              <a:t>Το</a:t>
            </a:r>
            <a:r>
              <a:rPr lang="en-US" sz="1400" dirty="0">
                <a:solidFill>
                  <a:schemeClr val="tx1"/>
                </a:solidFill>
              </a:rPr>
              <a:t> testbench </a:t>
            </a:r>
            <a:r>
              <a:rPr lang="en-US" sz="1400" dirty="0" err="1">
                <a:solidFill>
                  <a:schemeClr val="tx1"/>
                </a:solidFill>
              </a:rPr>
              <a:t>εκτελέστηκε</a:t>
            </a:r>
            <a:r>
              <a:rPr lang="en-US" sz="1400" dirty="0">
                <a:solidFill>
                  <a:schemeClr val="tx1"/>
                </a:solidFill>
              </a:rPr>
              <a:t> </a:t>
            </a:r>
            <a:r>
              <a:rPr lang="en-US" sz="1400" dirty="0" err="1">
                <a:solidFill>
                  <a:schemeClr val="tx1"/>
                </a:solidFill>
              </a:rPr>
              <a:t>με</a:t>
            </a:r>
            <a:r>
              <a:rPr lang="en-US" sz="1400" dirty="0">
                <a:solidFill>
                  <a:schemeClr val="tx1"/>
                </a:solidFill>
              </a:rPr>
              <a:t> επ</a:t>
            </a:r>
            <a:r>
              <a:rPr lang="en-US" sz="1400" dirty="0" err="1">
                <a:solidFill>
                  <a:schemeClr val="tx1"/>
                </a:solidFill>
              </a:rPr>
              <a:t>ιτυχί</a:t>
            </a:r>
            <a:r>
              <a:rPr lang="en-US" sz="1400" dirty="0">
                <a:solidFill>
                  <a:schemeClr val="tx1"/>
                </a:solidFill>
              </a:rPr>
              <a:t>α (</a:t>
            </a:r>
            <a:r>
              <a:rPr lang="en-US" sz="1400" b="1" dirty="0">
                <a:solidFill>
                  <a:schemeClr val="tx1"/>
                </a:solidFill>
              </a:rPr>
              <a:t>PASS</a:t>
            </a:r>
            <a:r>
              <a:rPr lang="en-US" sz="1400" dirty="0">
                <a:solidFill>
                  <a:schemeClr val="tx1"/>
                </a:solidFill>
              </a:rPr>
              <a:t>), επιβεβαιώνοντας ότι το κύκλωμα δεν παρουσιάζει setup/hold violations στα 1.5 ns.</a:t>
            </a: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2" name="Εικόνα 11">
            <a:extLst>
              <a:ext uri="{FF2B5EF4-FFF2-40B4-BE49-F238E27FC236}">
                <a16:creationId xmlns:a16="http://schemas.microsoft.com/office/drawing/2014/main" id="{DC701539-C259-C4DD-6A15-2DA1492D5D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437" y="2566796"/>
            <a:ext cx="5981913" cy="1724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5210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E986DD-657C-926D-502A-4FD8631ED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E227C8C0-C976-0CA3-50B3-436D4044F2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8F855B6-4315-2FFF-5567-9FADF70041EE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D6B8C90-C9CC-8595-47F1-91A590F32FC2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2DFE1873-2723-2B52-1849-405D6611C4FB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D357ABD-8C54-9BFB-666E-FFC71D16ECDB}"/>
              </a:ext>
            </a:extLst>
          </p:cNvPr>
          <p:cNvSpPr txBox="1"/>
          <p:nvPr/>
        </p:nvSpPr>
        <p:spPr>
          <a:xfrm>
            <a:off x="645049" y="495391"/>
            <a:ext cx="70755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US" sz="4400" b="1" spc="-38" dirty="0">
                <a:solidFill>
                  <a:srgbClr val="800020"/>
                </a:solidFill>
                <a:latin typeface="Poppins" panose="00000500000000000000" pitchFamily="2" charset="0"/>
              </a:rPr>
              <a:t>XCELIUM</a:t>
            </a:r>
            <a:r>
              <a:rPr lang="en-US" sz="4400" b="1" i="0" spc="-38" dirty="0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 Επα</a:t>
            </a:r>
            <a:r>
              <a:rPr lang="en-US" sz="4400" b="1" i="0" spc="-38" dirty="0" err="1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λήθευση</a:t>
            </a:r>
            <a:endParaRPr lang="en-US" sz="4400" b="1" i="0" spc="-38" dirty="0">
              <a:solidFill>
                <a:srgbClr val="800020"/>
              </a:solidFill>
              <a:effectLst/>
              <a:latin typeface="Poppins" panose="00000500000000000000" pitchFamily="2" charset="0"/>
            </a:endParaRPr>
          </a:p>
        </p:txBody>
      </p:sp>
      <p:pic>
        <p:nvPicPr>
          <p:cNvPr id="6" name="Picture 13">
            <a:extLst>
              <a:ext uri="{FF2B5EF4-FFF2-40B4-BE49-F238E27FC236}">
                <a16:creationId xmlns:a16="http://schemas.microsoft.com/office/drawing/2014/main" id="{308BD242-0602-62DB-FD57-9338D46D1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49" y="2189149"/>
            <a:ext cx="5259362" cy="238812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831E6F-7431-CABC-779D-77DD1DB9BF17}"/>
              </a:ext>
            </a:extLst>
          </p:cNvPr>
          <p:cNvSpPr txBox="1"/>
          <p:nvPr/>
        </p:nvSpPr>
        <p:spPr>
          <a:xfrm>
            <a:off x="6741046" y="3105834"/>
            <a:ext cx="383177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800020"/>
                </a:solidFill>
                <a:effectLst/>
              </a:rPr>
              <a:t>A=0F, B=01, Cin=1, expected=011 και </a:t>
            </a:r>
            <a:r>
              <a:rPr lang="en-US" b="0" i="0" dirty="0" err="1">
                <a:solidFill>
                  <a:srgbClr val="800020"/>
                </a:solidFill>
                <a:effectLst/>
              </a:rPr>
              <a:t>S_out</a:t>
            </a:r>
            <a:r>
              <a:rPr lang="en-US" b="0" i="0" dirty="0">
                <a:solidFill>
                  <a:srgbClr val="800020"/>
                </a:solidFill>
                <a:effectLst/>
              </a:rPr>
              <a:t>=11</a:t>
            </a:r>
            <a:endParaRPr lang="en-US" dirty="0">
              <a:solidFill>
                <a:srgbClr val="800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6004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6E3344-6AED-1BA5-9AB1-DEBB699B1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71EEC41D-833F-F26D-4758-225D32B333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C09D5540-995C-3079-6ED3-F6B1C684381B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4B18A-A105-B58B-0918-8ECF0B719704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81252589-1390-E396-9CD3-2C47E07EDA68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7F3AC07-943D-DDC4-4EF7-DE98FA048CE5}"/>
              </a:ext>
            </a:extLst>
          </p:cNvPr>
          <p:cNvSpPr txBox="1"/>
          <p:nvPr/>
        </p:nvSpPr>
        <p:spPr>
          <a:xfrm>
            <a:off x="645049" y="495391"/>
            <a:ext cx="70755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US" sz="4400" b="1" spc="-38" dirty="0">
                <a:solidFill>
                  <a:srgbClr val="800020"/>
                </a:solidFill>
                <a:latin typeface="Poppins" panose="00000500000000000000" pitchFamily="2" charset="0"/>
              </a:rPr>
              <a:t>XCELIUM</a:t>
            </a:r>
            <a:r>
              <a:rPr lang="en-US" sz="4400" b="1" i="0" spc="-38" dirty="0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 Επα</a:t>
            </a:r>
            <a:r>
              <a:rPr lang="en-US" sz="4400" b="1" i="0" spc="-38" dirty="0" err="1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λήθευση</a:t>
            </a:r>
            <a:endParaRPr lang="en-US" sz="4400" b="1" i="0" spc="-38" dirty="0">
              <a:solidFill>
                <a:srgbClr val="800020"/>
              </a:solidFill>
              <a:effectLst/>
              <a:latin typeface="Poppins" panose="00000500000000000000" pitchFamily="2" charset="0"/>
            </a:endParaRPr>
          </a:p>
        </p:txBody>
      </p:sp>
      <p:pic>
        <p:nvPicPr>
          <p:cNvPr id="9" name="Picture 14">
            <a:extLst>
              <a:ext uri="{FF2B5EF4-FFF2-40B4-BE49-F238E27FC236}">
                <a16:creationId xmlns:a16="http://schemas.microsoft.com/office/drawing/2014/main" id="{E8A40F92-13D6-5A5D-439B-D9A69DAC45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49" y="2582125"/>
            <a:ext cx="5021605" cy="20535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78C2A96-549E-4860-5FCB-DB17B2354CC2}"/>
              </a:ext>
            </a:extLst>
          </p:cNvPr>
          <p:cNvSpPr txBox="1"/>
          <p:nvPr/>
        </p:nvSpPr>
        <p:spPr>
          <a:xfrm>
            <a:off x="6028035" y="3276202"/>
            <a:ext cx="4911635" cy="53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ts val="1650"/>
              </a:lnSpc>
            </a:pPr>
            <a:r>
              <a:rPr lang="en-US" b="0" i="0" dirty="0">
                <a:solidFill>
                  <a:srgbClr val="800020"/>
                </a:solidFill>
                <a:effectLst/>
              </a:rPr>
              <a:t>A=BB, B=72, Cin=0, expected=12D, </a:t>
            </a:r>
            <a:r>
              <a:rPr lang="en-US" b="0" i="0" dirty="0" err="1">
                <a:solidFill>
                  <a:srgbClr val="800020"/>
                </a:solidFill>
                <a:effectLst/>
              </a:rPr>
              <a:t>Cout_out</a:t>
            </a:r>
            <a:r>
              <a:rPr lang="en-US" b="0" i="0" dirty="0">
                <a:solidFill>
                  <a:srgbClr val="800020"/>
                </a:solidFill>
                <a:effectLst/>
              </a:rPr>
              <a:t>=1 και </a:t>
            </a:r>
            <a:r>
              <a:rPr lang="en-US" b="0" i="0" dirty="0" err="1">
                <a:solidFill>
                  <a:srgbClr val="800020"/>
                </a:solidFill>
                <a:effectLst/>
              </a:rPr>
              <a:t>S_out</a:t>
            </a:r>
            <a:r>
              <a:rPr lang="en-US" b="0" i="0" dirty="0">
                <a:solidFill>
                  <a:srgbClr val="800020"/>
                </a:solidFill>
                <a:effectLst/>
              </a:rPr>
              <a:t>=2D</a:t>
            </a:r>
          </a:p>
        </p:txBody>
      </p:sp>
    </p:spTree>
    <p:extLst>
      <p:ext uri="{BB962C8B-B14F-4D97-AF65-F5344CB8AC3E}">
        <p14:creationId xmlns:p14="http://schemas.microsoft.com/office/powerpoint/2010/main" val="16305428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2E86AE-28D5-EC31-AE9A-FFACCE5515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551283C1-B79E-9C15-D620-DE42B44485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F72E8E9F-3066-73EA-728E-6066ECF4CB8D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178D1A3-C25C-C96A-F0C1-32EA63304FEC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0A35B28C-4AC3-888E-074E-79E24738C2B8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7B7E202-E826-8E3F-D226-DC49BDFC596E}"/>
              </a:ext>
            </a:extLst>
          </p:cNvPr>
          <p:cNvSpPr txBox="1"/>
          <p:nvPr/>
        </p:nvSpPr>
        <p:spPr>
          <a:xfrm>
            <a:off x="645049" y="495391"/>
            <a:ext cx="70755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US" sz="4400" b="1" spc="-38" dirty="0">
                <a:solidFill>
                  <a:srgbClr val="800020"/>
                </a:solidFill>
                <a:latin typeface="Poppins" panose="00000500000000000000" pitchFamily="2" charset="0"/>
              </a:rPr>
              <a:t>XCELIUM</a:t>
            </a:r>
            <a:r>
              <a:rPr lang="en-US" sz="4400" b="1" i="0" spc="-38" dirty="0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 Επα</a:t>
            </a:r>
            <a:r>
              <a:rPr lang="en-US" sz="4400" b="1" i="0" spc="-38" dirty="0" err="1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λήθευση</a:t>
            </a:r>
            <a:endParaRPr lang="en-US" sz="4400" b="1" i="0" spc="-38" dirty="0">
              <a:solidFill>
                <a:srgbClr val="800020"/>
              </a:solidFill>
              <a:effectLst/>
              <a:latin typeface="Poppins" panose="00000500000000000000" pitchFamily="2" charset="0"/>
            </a:endParaRPr>
          </a:p>
        </p:txBody>
      </p:sp>
      <p:pic>
        <p:nvPicPr>
          <p:cNvPr id="10" name="Εικόνα 9">
            <a:extLst>
              <a:ext uri="{FF2B5EF4-FFF2-40B4-BE49-F238E27FC236}">
                <a16:creationId xmlns:a16="http://schemas.microsoft.com/office/drawing/2014/main" id="{E9740CF5-7BFA-65ED-219B-C4D87D973D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5049" y="2307778"/>
            <a:ext cx="5408247" cy="2242444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D58379-0666-38A8-46FB-2FD8CF4C44D6}"/>
              </a:ext>
            </a:extLst>
          </p:cNvPr>
          <p:cNvSpPr txBox="1"/>
          <p:nvPr/>
        </p:nvSpPr>
        <p:spPr>
          <a:xfrm>
            <a:off x="6265023" y="3160112"/>
            <a:ext cx="4536327" cy="537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lnSpc>
                <a:spcPts val="1650"/>
              </a:lnSpc>
            </a:pPr>
            <a:r>
              <a:rPr lang="en-US" b="0" i="0" dirty="0">
                <a:solidFill>
                  <a:srgbClr val="800020"/>
                </a:solidFill>
                <a:effectLst/>
              </a:rPr>
              <a:t>A=01, B=01, Cin=0. expected=002, </a:t>
            </a:r>
            <a:r>
              <a:rPr lang="en-US" b="0" i="0" dirty="0" err="1">
                <a:solidFill>
                  <a:srgbClr val="800020"/>
                </a:solidFill>
                <a:effectLst/>
              </a:rPr>
              <a:t>S_out</a:t>
            </a:r>
            <a:r>
              <a:rPr lang="en-US" b="0" i="0" dirty="0">
                <a:solidFill>
                  <a:srgbClr val="800020"/>
                </a:solidFill>
                <a:effectLst/>
              </a:rPr>
              <a:t>=02, </a:t>
            </a:r>
            <a:r>
              <a:rPr lang="en-US" b="0" i="0" dirty="0" err="1">
                <a:solidFill>
                  <a:srgbClr val="800020"/>
                </a:solidFill>
                <a:effectLst/>
              </a:rPr>
              <a:t>Cout_out</a:t>
            </a:r>
            <a:r>
              <a:rPr lang="en-US" b="0" i="0" dirty="0">
                <a:solidFill>
                  <a:srgbClr val="800020"/>
                </a:solidFill>
                <a:effectLst/>
              </a:rPr>
              <a:t>=0.</a:t>
            </a:r>
          </a:p>
        </p:txBody>
      </p:sp>
    </p:spTree>
    <p:extLst>
      <p:ext uri="{BB962C8B-B14F-4D97-AF65-F5344CB8AC3E}">
        <p14:creationId xmlns:p14="http://schemas.microsoft.com/office/powerpoint/2010/main" val="30173191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5428C6-341F-2E38-88AD-9E037B616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018F9B9D-783B-6AC0-6904-44AFD93185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8201CF28-5F0A-A04C-1DF0-250928548BDC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46B9763-F4F1-FA17-6598-78B9D0838536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F38F4147-FE43-070F-01FC-4492EAEE6307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16C78DE6-4C10-ADEA-3B21-8DBF65C67A44}"/>
              </a:ext>
            </a:extLst>
          </p:cNvPr>
          <p:cNvSpPr txBox="1"/>
          <p:nvPr/>
        </p:nvSpPr>
        <p:spPr>
          <a:xfrm>
            <a:off x="645049" y="495391"/>
            <a:ext cx="7075593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US" sz="4400" b="1" i="0" spc="-38" dirty="0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LEC Επα</a:t>
            </a:r>
            <a:r>
              <a:rPr lang="en-US" sz="4400" b="1" i="0" spc="-38" dirty="0" err="1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λήθευση</a:t>
            </a:r>
            <a:endParaRPr lang="en-US" sz="4400" b="1" i="0" spc="-38" dirty="0">
              <a:solidFill>
                <a:srgbClr val="800020"/>
              </a:solidFill>
              <a:effectLst/>
              <a:latin typeface="Poppins" panose="00000500000000000000" pitchFamily="2" charset="0"/>
            </a:endParaRPr>
          </a:p>
        </p:txBody>
      </p:sp>
      <p:pic>
        <p:nvPicPr>
          <p:cNvPr id="4" name="Picture 15">
            <a:extLst>
              <a:ext uri="{FF2B5EF4-FFF2-40B4-BE49-F238E27FC236}">
                <a16:creationId xmlns:a16="http://schemas.microsoft.com/office/drawing/2014/main" id="{16251D17-3DC1-959D-0F61-7BB73546FE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3204" y="1826422"/>
            <a:ext cx="5288146" cy="374830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E7A3CF61-3DA8-13B5-21F5-F30D405BC530}"/>
              </a:ext>
            </a:extLst>
          </p:cNvPr>
          <p:cNvSpPr txBox="1"/>
          <p:nvPr/>
        </p:nvSpPr>
        <p:spPr>
          <a:xfrm>
            <a:off x="645049" y="2521059"/>
            <a:ext cx="3335383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800020"/>
                </a:solidFill>
                <a:effectLst/>
                <a:ea typeface="Liberation Serif"/>
                <a:cs typeface="Times New Roman" panose="02020603050405020304" pitchFamily="18" charset="0"/>
              </a:rPr>
              <a:t>Logic equivalence</a:t>
            </a:r>
            <a:r>
              <a:rPr lang="en-US" dirty="0">
                <a:solidFill>
                  <a:srgbClr val="800020"/>
                </a:solidFill>
                <a:effectLst/>
                <a:ea typeface="Liberation Serif"/>
                <a:cs typeface="Times New Roman" panose="02020603050405020304" pitchFamily="18" charset="0"/>
              </a:rPr>
              <a:t>: </a:t>
            </a:r>
            <a:r>
              <a:rPr lang="en-US" sz="1400" dirty="0">
                <a:effectLst/>
                <a:ea typeface="Liberation Serif"/>
                <a:cs typeface="Times New Roman" panose="02020603050405020304" pitchFamily="18" charset="0"/>
              </a:rPr>
              <a:t>check </a:t>
            </a:r>
            <a:r>
              <a:rPr lang="el-GR" sz="1400" dirty="0">
                <a:effectLst/>
                <a:ea typeface="Liberation Serif"/>
                <a:cs typeface="Times New Roman" panose="02020603050405020304" pitchFamily="18" charset="0"/>
              </a:rPr>
              <a:t>μεταξύ της αρχικής </a:t>
            </a:r>
            <a:r>
              <a:rPr lang="en-US" sz="1400" dirty="0">
                <a:effectLst/>
                <a:ea typeface="Liberation Serif"/>
                <a:cs typeface="Times New Roman" panose="02020603050405020304" pitchFamily="18" charset="0"/>
              </a:rPr>
              <a:t>VHDL RTL</a:t>
            </a:r>
            <a:r>
              <a:rPr lang="el-GR" sz="1400" dirty="0">
                <a:effectLst/>
                <a:ea typeface="Liberation Serif"/>
                <a:cs typeface="Times New Roman" panose="02020603050405020304" pitchFamily="18" charset="0"/>
              </a:rPr>
              <a:t> περιγραφής και του </a:t>
            </a:r>
            <a:r>
              <a:rPr lang="el-GR" sz="1400" dirty="0" err="1">
                <a:effectLst/>
                <a:ea typeface="Liberation Serif"/>
                <a:cs typeface="Times New Roman" panose="02020603050405020304" pitchFamily="18" charset="0"/>
              </a:rPr>
              <a:t>συνθεμένου</a:t>
            </a:r>
            <a:r>
              <a:rPr lang="el-GR" sz="1400" dirty="0">
                <a:effectLst/>
                <a:ea typeface="Liberation Serif"/>
                <a:cs typeface="Times New Roman" panose="02020603050405020304" pitchFamily="18" charset="0"/>
              </a:rPr>
              <a:t> </a:t>
            </a:r>
            <a:r>
              <a:rPr lang="en-US" sz="1400" dirty="0">
                <a:effectLst/>
                <a:ea typeface="Liberation Serif"/>
                <a:cs typeface="Times New Roman" panose="02020603050405020304" pitchFamily="18" charset="0"/>
              </a:rPr>
              <a:t>Verilog netlist</a:t>
            </a:r>
            <a:r>
              <a:rPr lang="el-GR" sz="1400" dirty="0">
                <a:effectLst/>
                <a:ea typeface="Liberation Serif"/>
                <a:cs typeface="Times New Roman" panose="02020603050405020304" pitchFamily="18" charset="0"/>
              </a:rPr>
              <a:t>. </a:t>
            </a:r>
            <a:r>
              <a:rPr lang="en-US" sz="1400" dirty="0" err="1">
                <a:effectLst/>
                <a:ea typeface="Liberation Serif"/>
                <a:cs typeface="Times New Roman" panose="02020603050405020304" pitchFamily="18" charset="0"/>
              </a:rPr>
              <a:t>Στο</a:t>
            </a:r>
            <a:r>
              <a:rPr lang="en-US" sz="1400" dirty="0">
                <a:effectLst/>
                <a:ea typeface="Liberation Serif"/>
                <a:cs typeface="Times New Roman" panose="02020603050405020304" pitchFamily="18" charset="0"/>
              </a:rPr>
              <a:t> golden design και </a:t>
            </a:r>
            <a:r>
              <a:rPr lang="en-US" sz="1400" dirty="0" err="1">
                <a:effectLst/>
                <a:ea typeface="Liberation Serif"/>
                <a:cs typeface="Times New Roman" panose="02020603050405020304" pitchFamily="18" charset="0"/>
              </a:rPr>
              <a:t>στο</a:t>
            </a:r>
            <a:r>
              <a:rPr lang="en-US" sz="1400" dirty="0">
                <a:effectLst/>
                <a:ea typeface="Liberation Serif"/>
                <a:cs typeface="Times New Roman" panose="02020603050405020304" pitchFamily="18" charset="0"/>
              </a:rPr>
              <a:t> revised design </a:t>
            </a:r>
            <a:r>
              <a:rPr lang="en-US" sz="1400" dirty="0" err="1">
                <a:effectLst/>
                <a:ea typeface="Liberation Serif"/>
                <a:cs typeface="Times New Roman" panose="02020603050405020304" pitchFamily="18" charset="0"/>
              </a:rPr>
              <a:t>εμφ</a:t>
            </a:r>
            <a:r>
              <a:rPr lang="en-US" sz="1400" dirty="0">
                <a:effectLst/>
                <a:ea typeface="Liberation Serif"/>
                <a:cs typeface="Times New Roman" panose="02020603050405020304" pitchFamily="18" charset="0"/>
              </a:rPr>
              <a:t>ανίζονται 19 primary inputs, 9 primary outputs και 26 flip-flops. </a:t>
            </a:r>
            <a:r>
              <a:rPr lang="en-US" sz="1400" dirty="0" err="1">
                <a:effectLst/>
                <a:ea typeface="Liberation Serif"/>
                <a:cs typeface="Times New Roman" panose="02020603050405020304" pitchFamily="18" charset="0"/>
              </a:rPr>
              <a:t>Προστέθηκ</a:t>
            </a:r>
            <a:r>
              <a:rPr lang="en-US" sz="1400" dirty="0">
                <a:effectLst/>
                <a:ea typeface="Liberation Serif"/>
                <a:cs typeface="Times New Roman" panose="02020603050405020304" pitchFamily="18" charset="0"/>
              </a:rPr>
              <a:t>αν 35 compare points και όλα βρέθηκαν equivalent.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6369698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386C16-6C8A-BF9D-AA8A-C443A9D37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88FB9BA7-4301-BCFC-A2F5-A58D3C14EF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3315711E-88D2-083A-AA04-6719CAC4620C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/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FE5CEBF8-75CA-11C1-D162-3C9F8E8E8E62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cxnSp>
        <p:nvCxnSpPr>
          <p:cNvPr id="5" name="Ευθεία γραμμή σύνδεσης 4">
            <a:extLst>
              <a:ext uri="{FF2B5EF4-FFF2-40B4-BE49-F238E27FC236}">
                <a16:creationId xmlns:a16="http://schemas.microsoft.com/office/drawing/2014/main" id="{3F07D53D-89EF-70AC-889F-A947579F1D74}"/>
              </a:ext>
            </a:extLst>
          </p:cNvPr>
          <p:cNvCxnSpPr/>
          <p:nvPr/>
        </p:nvCxnSpPr>
        <p:spPr>
          <a:xfrm>
            <a:off x="645049" y="1252330"/>
            <a:ext cx="10156301" cy="0"/>
          </a:xfrm>
          <a:prstGeom prst="line">
            <a:avLst/>
          </a:prstGeom>
        </p:spPr>
        <p:style>
          <a:lnRef idx="2">
            <a:schemeClr val="accent3"/>
          </a:lnRef>
          <a:fillRef idx="0">
            <a:schemeClr val="accent3"/>
          </a:fillRef>
          <a:effectRef idx="1">
            <a:schemeClr val="accent3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102C995F-0183-11E8-C80D-426F2A20E550}"/>
              </a:ext>
            </a:extLst>
          </p:cNvPr>
          <p:cNvSpPr txBox="1"/>
          <p:nvPr/>
        </p:nvSpPr>
        <p:spPr>
          <a:xfrm>
            <a:off x="645049" y="482889"/>
            <a:ext cx="6094562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2250"/>
              </a:spcAft>
              <a:buNone/>
            </a:pPr>
            <a:r>
              <a:rPr lang="en-US" sz="4400" b="1" i="0" spc="-38" dirty="0" err="1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Συμ</a:t>
            </a:r>
            <a:r>
              <a:rPr lang="en-US" sz="4400" b="1" i="0" spc="-38" dirty="0">
                <a:solidFill>
                  <a:srgbClr val="800020"/>
                </a:solidFill>
                <a:effectLst/>
                <a:latin typeface="Poppins" panose="00000500000000000000" pitchFamily="2" charset="0"/>
              </a:rPr>
              <a:t>περάσματα</a:t>
            </a:r>
          </a:p>
        </p:txBody>
      </p:sp>
      <p:sp>
        <p:nvSpPr>
          <p:cNvPr id="9" name="Ορθογώνιο: Στρογγύλεμα γωνιών 8">
            <a:extLst>
              <a:ext uri="{FF2B5EF4-FFF2-40B4-BE49-F238E27FC236}">
                <a16:creationId xmlns:a16="http://schemas.microsoft.com/office/drawing/2014/main" id="{278C10F1-604D-E9A9-C701-74FE5A63F443}"/>
              </a:ext>
            </a:extLst>
          </p:cNvPr>
          <p:cNvSpPr/>
          <p:nvPr/>
        </p:nvSpPr>
        <p:spPr>
          <a:xfrm>
            <a:off x="2429773" y="2282706"/>
            <a:ext cx="7332453" cy="2292587"/>
          </a:xfrm>
          <a:prstGeom prst="roundRect">
            <a:avLst/>
          </a:prstGeom>
          <a:solidFill>
            <a:schemeClr val="bg1"/>
          </a:solidFill>
          <a:ln>
            <a:solidFill>
              <a:srgbClr val="FAF9F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l-GR" b="1" dirty="0">
                <a:solidFill>
                  <a:srgbClr val="800020"/>
                </a:solidFill>
              </a:rPr>
              <a:t>Συνολικά, υλοποιήσαμε έναν registered 8-bit Conditional-Sum Adder, τον επιβεβαιώσαμε σε RTL επίπεδο, τον συνθέσαμε σε 45 nm και 7 nm, και ολοκληρώσαμε φυσική υλοποίηση με Innovus. Η 7 nm σύνθεση έδωσε σημαντικά καλύτερο area, power και timing, ενώ η τελική υλοποίηση με CTS πέρασε connectivity, DRC και timing. Με το Xcelium και το LEC επιβεβαιώθηκε ότι το τελικό netlist διατηρεί τη σωστή λειτουργία.</a:t>
            </a:r>
            <a:endParaRPr lang="en-US" b="1" dirty="0">
              <a:solidFill>
                <a:srgbClr val="80002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90680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B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F6F03F-A0EE-F3FF-D54C-B9AB6C418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Εικόνα 6">
            <a:extLst>
              <a:ext uri="{FF2B5EF4-FFF2-40B4-BE49-F238E27FC236}">
                <a16:creationId xmlns:a16="http://schemas.microsoft.com/office/drawing/2014/main" id="{62B101CD-6C9E-9DBB-E1D0-ECEE90FD3F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39670" y="0"/>
            <a:ext cx="1252330" cy="1252330"/>
          </a:xfrm>
          <a:prstGeom prst="rect">
            <a:avLst/>
          </a:prstGeom>
        </p:spPr>
      </p:pic>
      <p:cxnSp>
        <p:nvCxnSpPr>
          <p:cNvPr id="2" name="Straight Connector 4">
            <a:extLst>
              <a:ext uri="{FF2B5EF4-FFF2-40B4-BE49-F238E27FC236}">
                <a16:creationId xmlns:a16="http://schemas.microsoft.com/office/drawing/2014/main" id="{D105526C-D4FF-60AF-1329-ADEC8DE3F112}"/>
              </a:ext>
            </a:extLst>
          </p:cNvPr>
          <p:cNvCxnSpPr/>
          <p:nvPr/>
        </p:nvCxnSpPr>
        <p:spPr>
          <a:xfrm>
            <a:off x="645049" y="6148817"/>
            <a:ext cx="10901901" cy="0"/>
          </a:xfrm>
          <a:prstGeom prst="line">
            <a:avLst/>
          </a:prstGeom>
          <a:ln w="1905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B9C151C1-3402-E662-B899-E7D590800331}"/>
              </a:ext>
            </a:extLst>
          </p:cNvPr>
          <p:cNvSpPr txBox="1"/>
          <p:nvPr/>
        </p:nvSpPr>
        <p:spPr>
          <a:xfrm>
            <a:off x="2872272" y="6322351"/>
            <a:ext cx="64474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l-GR" dirty="0"/>
              <a:t>Τμήμα Ηλεκτρολόγων Μηχανικών και Τεχνολογίας Υπολογιστών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E07C2D-D7A5-8201-AA0D-A42B5B8D11EC}"/>
              </a:ext>
            </a:extLst>
          </p:cNvPr>
          <p:cNvSpPr txBox="1"/>
          <p:nvPr/>
        </p:nvSpPr>
        <p:spPr>
          <a:xfrm>
            <a:off x="3048718" y="2264571"/>
            <a:ext cx="6094562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ctr">
              <a:spcAft>
                <a:spcPts val="1125"/>
              </a:spcAft>
              <a:buNone/>
            </a:pPr>
            <a:r>
              <a:rPr lang="en-US" sz="6600" b="1" i="0" dirty="0" err="1">
                <a:solidFill>
                  <a:srgbClr val="800020"/>
                </a:solidFill>
                <a:effectLst/>
                <a:latin typeface="+mj-lt"/>
              </a:rPr>
              <a:t>Ερωτήσεις</a:t>
            </a:r>
            <a:r>
              <a:rPr lang="en-US" sz="6600" b="1" i="0" dirty="0">
                <a:solidFill>
                  <a:srgbClr val="800020"/>
                </a:solidFill>
                <a:effectLst/>
                <a:latin typeface="+mj-lt"/>
              </a:rPr>
              <a:t>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D2445E-046F-3AF6-F823-3ECEADFB954F}"/>
              </a:ext>
            </a:extLst>
          </p:cNvPr>
          <p:cNvSpPr txBox="1"/>
          <p:nvPr/>
        </p:nvSpPr>
        <p:spPr>
          <a:xfrm>
            <a:off x="3616983" y="3485434"/>
            <a:ext cx="49580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C5A059"/>
                </a:solidFill>
                <a:effectLst/>
              </a:rPr>
              <a:t>Σας </a:t>
            </a:r>
            <a:r>
              <a:rPr lang="en-US" sz="1800" b="0" i="0" dirty="0" err="1">
                <a:solidFill>
                  <a:srgbClr val="C5A059"/>
                </a:solidFill>
                <a:effectLst/>
              </a:rPr>
              <a:t>ευχ</a:t>
            </a:r>
            <a:r>
              <a:rPr lang="en-US" sz="1800" b="0" i="0" dirty="0">
                <a:solidFill>
                  <a:srgbClr val="C5A059"/>
                </a:solidFill>
                <a:effectLst/>
              </a:rPr>
              <a:t>αριστούμε πολύ για την προσοχή σας!</a:t>
            </a:r>
            <a:endParaRPr lang="en-US" dirty="0">
              <a:solidFill>
                <a:srgbClr val="C5A0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635237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Θέμα του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Θέμα του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Θέμα του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555</TotalTime>
  <Words>1726</Words>
  <Application>Microsoft Office PowerPoint</Application>
  <PresentationFormat>Ευρεία οθόνη</PresentationFormat>
  <Paragraphs>316</Paragraphs>
  <Slides>38</Slides>
  <Notes>0</Notes>
  <HiddenSlides>0</HiddenSlides>
  <MMClips>0</MMClips>
  <ScaleCrop>false</ScaleCrop>
  <HeadingPairs>
    <vt:vector size="6" baseType="variant">
      <vt:variant>
        <vt:lpstr>Γραμματοσειρές που χρησιμοποιούνται</vt:lpstr>
      </vt:variant>
      <vt:variant>
        <vt:i4>8</vt:i4>
      </vt:variant>
      <vt:variant>
        <vt:lpstr>Θέμα</vt:lpstr>
      </vt:variant>
      <vt:variant>
        <vt:i4>1</vt:i4>
      </vt:variant>
      <vt:variant>
        <vt:lpstr>Τίτλοι διαφανειών</vt:lpstr>
      </vt:variant>
      <vt:variant>
        <vt:i4>38</vt:i4>
      </vt:variant>
    </vt:vector>
  </HeadingPairs>
  <TitlesOfParts>
    <vt:vector size="47" baseType="lpstr">
      <vt:lpstr>Aptos</vt:lpstr>
      <vt:lpstr>Aptos Display</vt:lpstr>
      <vt:lpstr>Arial</vt:lpstr>
      <vt:lpstr>Cambria</vt:lpstr>
      <vt:lpstr>Cambria Math</vt:lpstr>
      <vt:lpstr>Liberation Serif</vt:lpstr>
      <vt:lpstr>Poppins</vt:lpstr>
      <vt:lpstr>Times New Roman</vt:lpstr>
      <vt:lpstr>Office Theme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  <vt:lpstr>Παρουσίαση του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ΚΑΤΣΑΝΤΩΝΗΣ ΚΩΝΣΤΑΝΤΙΝΟΣ</dc:creator>
  <cp:lastModifiedBy>ΚΑΤΣΑΝΤΩΝΗΣ ΚΩΝΣΤΑΝΤΙΝΟΣ</cp:lastModifiedBy>
  <cp:revision>61</cp:revision>
  <dcterms:created xsi:type="dcterms:W3CDTF">2026-07-03T10:54:20Z</dcterms:created>
  <dcterms:modified xsi:type="dcterms:W3CDTF">2026-07-06T07:21:45Z</dcterms:modified>
</cp:coreProperties>
</file>